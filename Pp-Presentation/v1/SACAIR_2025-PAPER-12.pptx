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82" r:id="rId3"/>
    <p:sldId id="271" r:id="rId4"/>
    <p:sldId id="259" r:id="rId5"/>
    <p:sldId id="261" r:id="rId6"/>
    <p:sldId id="263" r:id="rId7"/>
    <p:sldId id="272" r:id="rId8"/>
    <p:sldId id="273" r:id="rId9"/>
    <p:sldId id="264" r:id="rId10"/>
    <p:sldId id="265" r:id="rId11"/>
    <p:sldId id="268" r:id="rId12"/>
    <p:sldId id="278" r:id="rId13"/>
    <p:sldId id="266" r:id="rId14"/>
    <p:sldId id="267" r:id="rId15"/>
    <p:sldId id="280" r:id="rId16"/>
    <p:sldId id="279" r:id="rId17"/>
    <p:sldId id="277" r:id="rId18"/>
    <p:sldId id="281" r:id="rId19"/>
    <p:sldId id="269" r:id="rId20"/>
    <p:sldId id="270" r:id="rId21"/>
    <p:sldId id="274" r:id="rId22"/>
    <p:sldId id="275" r:id="rId23"/>
    <p:sldId id="276"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75" d="100"/>
          <a:sy n="75" d="100"/>
        </p:scale>
        <p:origin x="58"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10AE38-C4DC-4335-9C84-51C91F2129D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ZA"/>
          </a:p>
        </p:txBody>
      </p:sp>
      <p:sp>
        <p:nvSpPr>
          <p:cNvPr id="3" name="Subtitle 2">
            <a:extLst>
              <a:ext uri="{FF2B5EF4-FFF2-40B4-BE49-F238E27FC236}">
                <a16:creationId xmlns:a16="http://schemas.microsoft.com/office/drawing/2014/main" id="{942EAB4D-2EE0-4DF1-1A75-2B9C84FB1E4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ZA"/>
          </a:p>
        </p:txBody>
      </p:sp>
      <p:sp>
        <p:nvSpPr>
          <p:cNvPr id="4" name="Date Placeholder 3">
            <a:extLst>
              <a:ext uri="{FF2B5EF4-FFF2-40B4-BE49-F238E27FC236}">
                <a16:creationId xmlns:a16="http://schemas.microsoft.com/office/drawing/2014/main" id="{2A7FBE39-D243-243D-15A1-C2BFB738B586}"/>
              </a:ext>
            </a:extLst>
          </p:cNvPr>
          <p:cNvSpPr>
            <a:spLocks noGrp="1"/>
          </p:cNvSpPr>
          <p:nvPr>
            <p:ph type="dt" sz="half" idx="10"/>
          </p:nvPr>
        </p:nvSpPr>
        <p:spPr/>
        <p:txBody>
          <a:bodyPr/>
          <a:lstStyle/>
          <a:p>
            <a:fld id="{7F3B3D5B-6C5C-4BEA-81A9-0BF7095E51ED}" type="datetimeFigureOut">
              <a:rPr lang="en-ZA" smtClean="0"/>
              <a:t>2025/11/23</a:t>
            </a:fld>
            <a:endParaRPr lang="en-ZA"/>
          </a:p>
        </p:txBody>
      </p:sp>
      <p:sp>
        <p:nvSpPr>
          <p:cNvPr id="5" name="Footer Placeholder 4">
            <a:extLst>
              <a:ext uri="{FF2B5EF4-FFF2-40B4-BE49-F238E27FC236}">
                <a16:creationId xmlns:a16="http://schemas.microsoft.com/office/drawing/2014/main" id="{1784E330-C82D-7DE8-BECE-26AC1AF46216}"/>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DF511C83-D9A3-5838-D849-F35DA8A8F624}"/>
              </a:ext>
            </a:extLst>
          </p:cNvPr>
          <p:cNvSpPr>
            <a:spLocks noGrp="1"/>
          </p:cNvSpPr>
          <p:nvPr>
            <p:ph type="sldNum" sz="quarter" idx="12"/>
          </p:nvPr>
        </p:nvSpPr>
        <p:spPr/>
        <p:txBody>
          <a:bodyPr/>
          <a:lstStyle/>
          <a:p>
            <a:fld id="{E38C46B0-32F4-4EFA-9B80-C34977460D4E}" type="slidenum">
              <a:rPr lang="en-ZA" smtClean="0"/>
              <a:t>‹#›</a:t>
            </a:fld>
            <a:endParaRPr lang="en-ZA"/>
          </a:p>
        </p:txBody>
      </p:sp>
    </p:spTree>
    <p:extLst>
      <p:ext uri="{BB962C8B-B14F-4D97-AF65-F5344CB8AC3E}">
        <p14:creationId xmlns:p14="http://schemas.microsoft.com/office/powerpoint/2010/main" val="13595990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E729C5-4020-EB3C-6C1D-B6EE8043DC5F}"/>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A3B4E8C4-086B-CC02-6B50-26BAFB28641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A7188405-A4B7-5A2E-3733-94A17AEFF50B}"/>
              </a:ext>
            </a:extLst>
          </p:cNvPr>
          <p:cNvSpPr>
            <a:spLocks noGrp="1"/>
          </p:cNvSpPr>
          <p:nvPr>
            <p:ph type="dt" sz="half" idx="10"/>
          </p:nvPr>
        </p:nvSpPr>
        <p:spPr/>
        <p:txBody>
          <a:bodyPr/>
          <a:lstStyle/>
          <a:p>
            <a:fld id="{7F3B3D5B-6C5C-4BEA-81A9-0BF7095E51ED}" type="datetimeFigureOut">
              <a:rPr lang="en-ZA" smtClean="0"/>
              <a:t>2025/11/23</a:t>
            </a:fld>
            <a:endParaRPr lang="en-ZA"/>
          </a:p>
        </p:txBody>
      </p:sp>
      <p:sp>
        <p:nvSpPr>
          <p:cNvPr id="5" name="Footer Placeholder 4">
            <a:extLst>
              <a:ext uri="{FF2B5EF4-FFF2-40B4-BE49-F238E27FC236}">
                <a16:creationId xmlns:a16="http://schemas.microsoft.com/office/drawing/2014/main" id="{B4FAC918-44ED-586F-2469-227CD07503D1}"/>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6200718A-4E5D-FBE6-DB70-C2D822E9F271}"/>
              </a:ext>
            </a:extLst>
          </p:cNvPr>
          <p:cNvSpPr>
            <a:spLocks noGrp="1"/>
          </p:cNvSpPr>
          <p:nvPr>
            <p:ph type="sldNum" sz="quarter" idx="12"/>
          </p:nvPr>
        </p:nvSpPr>
        <p:spPr/>
        <p:txBody>
          <a:bodyPr/>
          <a:lstStyle/>
          <a:p>
            <a:fld id="{E38C46B0-32F4-4EFA-9B80-C34977460D4E}" type="slidenum">
              <a:rPr lang="en-ZA" smtClean="0"/>
              <a:t>‹#›</a:t>
            </a:fld>
            <a:endParaRPr lang="en-ZA"/>
          </a:p>
        </p:txBody>
      </p:sp>
    </p:spTree>
    <p:extLst>
      <p:ext uri="{BB962C8B-B14F-4D97-AF65-F5344CB8AC3E}">
        <p14:creationId xmlns:p14="http://schemas.microsoft.com/office/powerpoint/2010/main" val="28097817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52409-16DA-911E-0DBE-A8F25019C23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ZA"/>
          </a:p>
        </p:txBody>
      </p:sp>
      <p:sp>
        <p:nvSpPr>
          <p:cNvPr id="3" name="Text Placeholder 2">
            <a:extLst>
              <a:ext uri="{FF2B5EF4-FFF2-40B4-BE49-F238E27FC236}">
                <a16:creationId xmlns:a16="http://schemas.microsoft.com/office/drawing/2014/main" id="{2910B8A8-58F6-83D3-4D51-252DE812358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0C5D807-D872-1B54-D157-584D1C4D131A}"/>
              </a:ext>
            </a:extLst>
          </p:cNvPr>
          <p:cNvSpPr>
            <a:spLocks noGrp="1"/>
          </p:cNvSpPr>
          <p:nvPr>
            <p:ph type="dt" sz="half" idx="10"/>
          </p:nvPr>
        </p:nvSpPr>
        <p:spPr/>
        <p:txBody>
          <a:bodyPr/>
          <a:lstStyle/>
          <a:p>
            <a:fld id="{7F3B3D5B-6C5C-4BEA-81A9-0BF7095E51ED}" type="datetimeFigureOut">
              <a:rPr lang="en-ZA" smtClean="0"/>
              <a:t>2025/11/23</a:t>
            </a:fld>
            <a:endParaRPr lang="en-ZA"/>
          </a:p>
        </p:txBody>
      </p:sp>
      <p:sp>
        <p:nvSpPr>
          <p:cNvPr id="5" name="Footer Placeholder 4">
            <a:extLst>
              <a:ext uri="{FF2B5EF4-FFF2-40B4-BE49-F238E27FC236}">
                <a16:creationId xmlns:a16="http://schemas.microsoft.com/office/drawing/2014/main" id="{CFA378A0-29F0-99EE-9C88-5C8AC00325F4}"/>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F0D067D6-24C7-FA88-AD5E-11E97A3214EA}"/>
              </a:ext>
            </a:extLst>
          </p:cNvPr>
          <p:cNvSpPr>
            <a:spLocks noGrp="1"/>
          </p:cNvSpPr>
          <p:nvPr>
            <p:ph type="sldNum" sz="quarter" idx="12"/>
          </p:nvPr>
        </p:nvSpPr>
        <p:spPr/>
        <p:txBody>
          <a:bodyPr/>
          <a:lstStyle/>
          <a:p>
            <a:fld id="{E38C46B0-32F4-4EFA-9B80-C34977460D4E}" type="slidenum">
              <a:rPr lang="en-ZA" smtClean="0"/>
              <a:t>‹#›</a:t>
            </a:fld>
            <a:endParaRPr lang="en-ZA"/>
          </a:p>
        </p:txBody>
      </p:sp>
    </p:spTree>
    <p:extLst>
      <p:ext uri="{BB962C8B-B14F-4D97-AF65-F5344CB8AC3E}">
        <p14:creationId xmlns:p14="http://schemas.microsoft.com/office/powerpoint/2010/main" val="2324883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DA8D6-20DF-0A8B-A0BC-27AA2481D0DB}"/>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AC123F06-5C5D-C96B-2928-FE1585F83ED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Content Placeholder 3">
            <a:extLst>
              <a:ext uri="{FF2B5EF4-FFF2-40B4-BE49-F238E27FC236}">
                <a16:creationId xmlns:a16="http://schemas.microsoft.com/office/drawing/2014/main" id="{A4A09EF3-9E25-D91D-49DE-11780C66653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Date Placeholder 4">
            <a:extLst>
              <a:ext uri="{FF2B5EF4-FFF2-40B4-BE49-F238E27FC236}">
                <a16:creationId xmlns:a16="http://schemas.microsoft.com/office/drawing/2014/main" id="{B0E581C2-1523-5934-4EA5-9931DC160E96}"/>
              </a:ext>
            </a:extLst>
          </p:cNvPr>
          <p:cNvSpPr>
            <a:spLocks noGrp="1"/>
          </p:cNvSpPr>
          <p:nvPr>
            <p:ph type="dt" sz="half" idx="10"/>
          </p:nvPr>
        </p:nvSpPr>
        <p:spPr/>
        <p:txBody>
          <a:bodyPr/>
          <a:lstStyle/>
          <a:p>
            <a:fld id="{7F3B3D5B-6C5C-4BEA-81A9-0BF7095E51ED}" type="datetimeFigureOut">
              <a:rPr lang="en-ZA" smtClean="0"/>
              <a:t>2025/11/23</a:t>
            </a:fld>
            <a:endParaRPr lang="en-ZA"/>
          </a:p>
        </p:txBody>
      </p:sp>
      <p:sp>
        <p:nvSpPr>
          <p:cNvPr id="6" name="Footer Placeholder 5">
            <a:extLst>
              <a:ext uri="{FF2B5EF4-FFF2-40B4-BE49-F238E27FC236}">
                <a16:creationId xmlns:a16="http://schemas.microsoft.com/office/drawing/2014/main" id="{6AAE71CA-0037-0088-10A1-E4DC387B1088}"/>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2798D7E7-AE69-2AD4-9563-574F1A71BD35}"/>
              </a:ext>
            </a:extLst>
          </p:cNvPr>
          <p:cNvSpPr>
            <a:spLocks noGrp="1"/>
          </p:cNvSpPr>
          <p:nvPr>
            <p:ph type="sldNum" sz="quarter" idx="12"/>
          </p:nvPr>
        </p:nvSpPr>
        <p:spPr/>
        <p:txBody>
          <a:bodyPr/>
          <a:lstStyle/>
          <a:p>
            <a:fld id="{E38C46B0-32F4-4EFA-9B80-C34977460D4E}" type="slidenum">
              <a:rPr lang="en-ZA" smtClean="0"/>
              <a:t>‹#›</a:t>
            </a:fld>
            <a:endParaRPr lang="en-ZA"/>
          </a:p>
        </p:txBody>
      </p:sp>
    </p:spTree>
    <p:extLst>
      <p:ext uri="{BB962C8B-B14F-4D97-AF65-F5344CB8AC3E}">
        <p14:creationId xmlns:p14="http://schemas.microsoft.com/office/powerpoint/2010/main" val="24438380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DCA90D-C51C-D804-9AAA-971C7F86D6D9}"/>
              </a:ext>
            </a:extLst>
          </p:cNvPr>
          <p:cNvSpPr>
            <a:spLocks noGrp="1"/>
          </p:cNvSpPr>
          <p:nvPr>
            <p:ph type="title"/>
          </p:nvPr>
        </p:nvSpPr>
        <p:spPr>
          <a:xfrm>
            <a:off x="839788" y="365125"/>
            <a:ext cx="10515600" cy="1325563"/>
          </a:xfrm>
        </p:spPr>
        <p:txBody>
          <a:bodyPr/>
          <a:lstStyle/>
          <a:p>
            <a:r>
              <a:rPr lang="en-US"/>
              <a:t>Click to edit Master title style</a:t>
            </a:r>
            <a:endParaRPr lang="en-ZA"/>
          </a:p>
        </p:txBody>
      </p:sp>
      <p:sp>
        <p:nvSpPr>
          <p:cNvPr id="3" name="Text Placeholder 2">
            <a:extLst>
              <a:ext uri="{FF2B5EF4-FFF2-40B4-BE49-F238E27FC236}">
                <a16:creationId xmlns:a16="http://schemas.microsoft.com/office/drawing/2014/main" id="{88267659-DFE9-B1CC-3298-216D84EDF34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6346501-BA11-61EC-B2E7-FC99C9E02FA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Text Placeholder 4">
            <a:extLst>
              <a:ext uri="{FF2B5EF4-FFF2-40B4-BE49-F238E27FC236}">
                <a16:creationId xmlns:a16="http://schemas.microsoft.com/office/drawing/2014/main" id="{183CCA87-B9B3-22DE-D16E-711706A218D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9F94CCF-22D0-6C40-35E2-60715D7836C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7" name="Date Placeholder 6">
            <a:extLst>
              <a:ext uri="{FF2B5EF4-FFF2-40B4-BE49-F238E27FC236}">
                <a16:creationId xmlns:a16="http://schemas.microsoft.com/office/drawing/2014/main" id="{F67A48B5-9631-1BB7-C255-08A91DCC1EFF}"/>
              </a:ext>
            </a:extLst>
          </p:cNvPr>
          <p:cNvSpPr>
            <a:spLocks noGrp="1"/>
          </p:cNvSpPr>
          <p:nvPr>
            <p:ph type="dt" sz="half" idx="10"/>
          </p:nvPr>
        </p:nvSpPr>
        <p:spPr/>
        <p:txBody>
          <a:bodyPr/>
          <a:lstStyle/>
          <a:p>
            <a:fld id="{7F3B3D5B-6C5C-4BEA-81A9-0BF7095E51ED}" type="datetimeFigureOut">
              <a:rPr lang="en-ZA" smtClean="0"/>
              <a:t>2025/11/23</a:t>
            </a:fld>
            <a:endParaRPr lang="en-ZA"/>
          </a:p>
        </p:txBody>
      </p:sp>
      <p:sp>
        <p:nvSpPr>
          <p:cNvPr id="8" name="Footer Placeholder 7">
            <a:extLst>
              <a:ext uri="{FF2B5EF4-FFF2-40B4-BE49-F238E27FC236}">
                <a16:creationId xmlns:a16="http://schemas.microsoft.com/office/drawing/2014/main" id="{1295CBAC-54E8-C8FD-CD34-E27BA5DFA582}"/>
              </a:ext>
            </a:extLst>
          </p:cNvPr>
          <p:cNvSpPr>
            <a:spLocks noGrp="1"/>
          </p:cNvSpPr>
          <p:nvPr>
            <p:ph type="ftr" sz="quarter" idx="11"/>
          </p:nvPr>
        </p:nvSpPr>
        <p:spPr/>
        <p:txBody>
          <a:bodyPr/>
          <a:lstStyle/>
          <a:p>
            <a:endParaRPr lang="en-ZA"/>
          </a:p>
        </p:txBody>
      </p:sp>
      <p:sp>
        <p:nvSpPr>
          <p:cNvPr id="9" name="Slide Number Placeholder 8">
            <a:extLst>
              <a:ext uri="{FF2B5EF4-FFF2-40B4-BE49-F238E27FC236}">
                <a16:creationId xmlns:a16="http://schemas.microsoft.com/office/drawing/2014/main" id="{D19EC757-F681-2D4C-AF5A-80FBFF397C2E}"/>
              </a:ext>
            </a:extLst>
          </p:cNvPr>
          <p:cNvSpPr>
            <a:spLocks noGrp="1"/>
          </p:cNvSpPr>
          <p:nvPr>
            <p:ph type="sldNum" sz="quarter" idx="12"/>
          </p:nvPr>
        </p:nvSpPr>
        <p:spPr/>
        <p:txBody>
          <a:bodyPr/>
          <a:lstStyle/>
          <a:p>
            <a:fld id="{E38C46B0-32F4-4EFA-9B80-C34977460D4E}" type="slidenum">
              <a:rPr lang="en-ZA" smtClean="0"/>
              <a:t>‹#›</a:t>
            </a:fld>
            <a:endParaRPr lang="en-ZA"/>
          </a:p>
        </p:txBody>
      </p:sp>
    </p:spTree>
    <p:extLst>
      <p:ext uri="{BB962C8B-B14F-4D97-AF65-F5344CB8AC3E}">
        <p14:creationId xmlns:p14="http://schemas.microsoft.com/office/powerpoint/2010/main" val="30200286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60749-5544-9EC4-47FC-7CC51DF9D48E}"/>
              </a:ext>
            </a:extLst>
          </p:cNvPr>
          <p:cNvSpPr>
            <a:spLocks noGrp="1"/>
          </p:cNvSpPr>
          <p:nvPr>
            <p:ph type="title"/>
          </p:nvPr>
        </p:nvSpPr>
        <p:spPr/>
        <p:txBody>
          <a:bodyPr/>
          <a:lstStyle/>
          <a:p>
            <a:r>
              <a:rPr lang="en-US"/>
              <a:t>Click to edit Master title style</a:t>
            </a:r>
            <a:endParaRPr lang="en-ZA"/>
          </a:p>
        </p:txBody>
      </p:sp>
      <p:sp>
        <p:nvSpPr>
          <p:cNvPr id="3" name="Date Placeholder 2">
            <a:extLst>
              <a:ext uri="{FF2B5EF4-FFF2-40B4-BE49-F238E27FC236}">
                <a16:creationId xmlns:a16="http://schemas.microsoft.com/office/drawing/2014/main" id="{D6FA8044-4957-D7B7-2097-B06C9A1D3A38}"/>
              </a:ext>
            </a:extLst>
          </p:cNvPr>
          <p:cNvSpPr>
            <a:spLocks noGrp="1"/>
          </p:cNvSpPr>
          <p:nvPr>
            <p:ph type="dt" sz="half" idx="10"/>
          </p:nvPr>
        </p:nvSpPr>
        <p:spPr/>
        <p:txBody>
          <a:bodyPr/>
          <a:lstStyle/>
          <a:p>
            <a:fld id="{7F3B3D5B-6C5C-4BEA-81A9-0BF7095E51ED}" type="datetimeFigureOut">
              <a:rPr lang="en-ZA" smtClean="0"/>
              <a:t>2025/11/23</a:t>
            </a:fld>
            <a:endParaRPr lang="en-ZA"/>
          </a:p>
        </p:txBody>
      </p:sp>
      <p:sp>
        <p:nvSpPr>
          <p:cNvPr id="4" name="Footer Placeholder 3">
            <a:extLst>
              <a:ext uri="{FF2B5EF4-FFF2-40B4-BE49-F238E27FC236}">
                <a16:creationId xmlns:a16="http://schemas.microsoft.com/office/drawing/2014/main" id="{3BB758F9-472B-6486-C9BE-38747C5F2D32}"/>
              </a:ext>
            </a:extLst>
          </p:cNvPr>
          <p:cNvSpPr>
            <a:spLocks noGrp="1"/>
          </p:cNvSpPr>
          <p:nvPr>
            <p:ph type="ftr" sz="quarter" idx="11"/>
          </p:nvPr>
        </p:nvSpPr>
        <p:spPr/>
        <p:txBody>
          <a:bodyPr/>
          <a:lstStyle/>
          <a:p>
            <a:endParaRPr lang="en-ZA"/>
          </a:p>
        </p:txBody>
      </p:sp>
      <p:sp>
        <p:nvSpPr>
          <p:cNvPr id="5" name="Slide Number Placeholder 4">
            <a:extLst>
              <a:ext uri="{FF2B5EF4-FFF2-40B4-BE49-F238E27FC236}">
                <a16:creationId xmlns:a16="http://schemas.microsoft.com/office/drawing/2014/main" id="{7011D162-600F-5B96-CB38-3F82B578225B}"/>
              </a:ext>
            </a:extLst>
          </p:cNvPr>
          <p:cNvSpPr>
            <a:spLocks noGrp="1"/>
          </p:cNvSpPr>
          <p:nvPr>
            <p:ph type="sldNum" sz="quarter" idx="12"/>
          </p:nvPr>
        </p:nvSpPr>
        <p:spPr/>
        <p:txBody>
          <a:bodyPr/>
          <a:lstStyle/>
          <a:p>
            <a:fld id="{E38C46B0-32F4-4EFA-9B80-C34977460D4E}" type="slidenum">
              <a:rPr lang="en-ZA" smtClean="0"/>
              <a:t>‹#›</a:t>
            </a:fld>
            <a:endParaRPr lang="en-ZA"/>
          </a:p>
        </p:txBody>
      </p:sp>
    </p:spTree>
    <p:extLst>
      <p:ext uri="{BB962C8B-B14F-4D97-AF65-F5344CB8AC3E}">
        <p14:creationId xmlns:p14="http://schemas.microsoft.com/office/powerpoint/2010/main" val="35383374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ED29204-9E4E-DAE5-FD89-8950AB43D849}"/>
              </a:ext>
            </a:extLst>
          </p:cNvPr>
          <p:cNvSpPr>
            <a:spLocks noGrp="1"/>
          </p:cNvSpPr>
          <p:nvPr>
            <p:ph type="dt" sz="half" idx="10"/>
          </p:nvPr>
        </p:nvSpPr>
        <p:spPr/>
        <p:txBody>
          <a:bodyPr/>
          <a:lstStyle/>
          <a:p>
            <a:fld id="{7F3B3D5B-6C5C-4BEA-81A9-0BF7095E51ED}" type="datetimeFigureOut">
              <a:rPr lang="en-ZA" smtClean="0"/>
              <a:t>2025/11/23</a:t>
            </a:fld>
            <a:endParaRPr lang="en-ZA"/>
          </a:p>
        </p:txBody>
      </p:sp>
      <p:sp>
        <p:nvSpPr>
          <p:cNvPr id="3" name="Footer Placeholder 2">
            <a:extLst>
              <a:ext uri="{FF2B5EF4-FFF2-40B4-BE49-F238E27FC236}">
                <a16:creationId xmlns:a16="http://schemas.microsoft.com/office/drawing/2014/main" id="{31EBA46A-6407-D879-B2D7-3B106AAB3CC9}"/>
              </a:ext>
            </a:extLst>
          </p:cNvPr>
          <p:cNvSpPr>
            <a:spLocks noGrp="1"/>
          </p:cNvSpPr>
          <p:nvPr>
            <p:ph type="ftr" sz="quarter" idx="11"/>
          </p:nvPr>
        </p:nvSpPr>
        <p:spPr/>
        <p:txBody>
          <a:bodyPr/>
          <a:lstStyle/>
          <a:p>
            <a:endParaRPr lang="en-ZA"/>
          </a:p>
        </p:txBody>
      </p:sp>
      <p:sp>
        <p:nvSpPr>
          <p:cNvPr id="4" name="Slide Number Placeholder 3">
            <a:extLst>
              <a:ext uri="{FF2B5EF4-FFF2-40B4-BE49-F238E27FC236}">
                <a16:creationId xmlns:a16="http://schemas.microsoft.com/office/drawing/2014/main" id="{041D56F1-668E-4A60-FAF2-93C1049CB96D}"/>
              </a:ext>
            </a:extLst>
          </p:cNvPr>
          <p:cNvSpPr>
            <a:spLocks noGrp="1"/>
          </p:cNvSpPr>
          <p:nvPr>
            <p:ph type="sldNum" sz="quarter" idx="12"/>
          </p:nvPr>
        </p:nvSpPr>
        <p:spPr/>
        <p:txBody>
          <a:bodyPr/>
          <a:lstStyle/>
          <a:p>
            <a:fld id="{E38C46B0-32F4-4EFA-9B80-C34977460D4E}" type="slidenum">
              <a:rPr lang="en-ZA" smtClean="0"/>
              <a:t>‹#›</a:t>
            </a:fld>
            <a:endParaRPr lang="en-ZA"/>
          </a:p>
        </p:txBody>
      </p:sp>
    </p:spTree>
    <p:extLst>
      <p:ext uri="{BB962C8B-B14F-4D97-AF65-F5344CB8AC3E}">
        <p14:creationId xmlns:p14="http://schemas.microsoft.com/office/powerpoint/2010/main" val="5835070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DF247-4A14-741F-AE40-8A963B3D4A2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Content Placeholder 2">
            <a:extLst>
              <a:ext uri="{FF2B5EF4-FFF2-40B4-BE49-F238E27FC236}">
                <a16:creationId xmlns:a16="http://schemas.microsoft.com/office/drawing/2014/main" id="{E99ECAA5-B6AF-69BC-BF8C-62B4F734957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Text Placeholder 3">
            <a:extLst>
              <a:ext uri="{FF2B5EF4-FFF2-40B4-BE49-F238E27FC236}">
                <a16:creationId xmlns:a16="http://schemas.microsoft.com/office/drawing/2014/main" id="{25F59F84-4DDD-6861-9827-60EEA25EE7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57A8BC7-3715-3B6C-72D9-F5E0CACF0C21}"/>
              </a:ext>
            </a:extLst>
          </p:cNvPr>
          <p:cNvSpPr>
            <a:spLocks noGrp="1"/>
          </p:cNvSpPr>
          <p:nvPr>
            <p:ph type="dt" sz="half" idx="10"/>
          </p:nvPr>
        </p:nvSpPr>
        <p:spPr/>
        <p:txBody>
          <a:bodyPr/>
          <a:lstStyle/>
          <a:p>
            <a:fld id="{7F3B3D5B-6C5C-4BEA-81A9-0BF7095E51ED}" type="datetimeFigureOut">
              <a:rPr lang="en-ZA" smtClean="0"/>
              <a:t>2025/11/23</a:t>
            </a:fld>
            <a:endParaRPr lang="en-ZA"/>
          </a:p>
        </p:txBody>
      </p:sp>
      <p:sp>
        <p:nvSpPr>
          <p:cNvPr id="6" name="Footer Placeholder 5">
            <a:extLst>
              <a:ext uri="{FF2B5EF4-FFF2-40B4-BE49-F238E27FC236}">
                <a16:creationId xmlns:a16="http://schemas.microsoft.com/office/drawing/2014/main" id="{73357203-85CE-7C1E-DBBE-4CDC6671445C}"/>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5B0C6F9C-D0C7-8319-3CC0-1189B4B2F48A}"/>
              </a:ext>
            </a:extLst>
          </p:cNvPr>
          <p:cNvSpPr>
            <a:spLocks noGrp="1"/>
          </p:cNvSpPr>
          <p:nvPr>
            <p:ph type="sldNum" sz="quarter" idx="12"/>
          </p:nvPr>
        </p:nvSpPr>
        <p:spPr/>
        <p:txBody>
          <a:bodyPr/>
          <a:lstStyle/>
          <a:p>
            <a:fld id="{E38C46B0-32F4-4EFA-9B80-C34977460D4E}" type="slidenum">
              <a:rPr lang="en-ZA" smtClean="0"/>
              <a:t>‹#›</a:t>
            </a:fld>
            <a:endParaRPr lang="en-ZA"/>
          </a:p>
        </p:txBody>
      </p:sp>
    </p:spTree>
    <p:extLst>
      <p:ext uri="{BB962C8B-B14F-4D97-AF65-F5344CB8AC3E}">
        <p14:creationId xmlns:p14="http://schemas.microsoft.com/office/powerpoint/2010/main" val="9050724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72DEF-D044-8922-34DF-3F402039CCB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Picture Placeholder 2">
            <a:extLst>
              <a:ext uri="{FF2B5EF4-FFF2-40B4-BE49-F238E27FC236}">
                <a16:creationId xmlns:a16="http://schemas.microsoft.com/office/drawing/2014/main" id="{55197F95-F62A-0B27-77F8-DCFC77B80D1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ZA"/>
          </a:p>
        </p:txBody>
      </p:sp>
      <p:sp>
        <p:nvSpPr>
          <p:cNvPr id="4" name="Text Placeholder 3">
            <a:extLst>
              <a:ext uri="{FF2B5EF4-FFF2-40B4-BE49-F238E27FC236}">
                <a16:creationId xmlns:a16="http://schemas.microsoft.com/office/drawing/2014/main" id="{5244EB07-95EE-D772-D1E0-7938AEAEA36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EF9EE3F-4BC0-EB71-89D6-8B60615C9977}"/>
              </a:ext>
            </a:extLst>
          </p:cNvPr>
          <p:cNvSpPr>
            <a:spLocks noGrp="1"/>
          </p:cNvSpPr>
          <p:nvPr>
            <p:ph type="dt" sz="half" idx="10"/>
          </p:nvPr>
        </p:nvSpPr>
        <p:spPr/>
        <p:txBody>
          <a:bodyPr/>
          <a:lstStyle/>
          <a:p>
            <a:fld id="{7F3B3D5B-6C5C-4BEA-81A9-0BF7095E51ED}" type="datetimeFigureOut">
              <a:rPr lang="en-ZA" smtClean="0"/>
              <a:t>2025/11/23</a:t>
            </a:fld>
            <a:endParaRPr lang="en-ZA"/>
          </a:p>
        </p:txBody>
      </p:sp>
      <p:sp>
        <p:nvSpPr>
          <p:cNvPr id="6" name="Footer Placeholder 5">
            <a:extLst>
              <a:ext uri="{FF2B5EF4-FFF2-40B4-BE49-F238E27FC236}">
                <a16:creationId xmlns:a16="http://schemas.microsoft.com/office/drawing/2014/main" id="{817D1345-C07A-E42C-C906-A8B4A84F41C3}"/>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57072F39-9BF1-2E4A-2F22-0E0FE0216530}"/>
              </a:ext>
            </a:extLst>
          </p:cNvPr>
          <p:cNvSpPr>
            <a:spLocks noGrp="1"/>
          </p:cNvSpPr>
          <p:nvPr>
            <p:ph type="sldNum" sz="quarter" idx="12"/>
          </p:nvPr>
        </p:nvSpPr>
        <p:spPr/>
        <p:txBody>
          <a:bodyPr/>
          <a:lstStyle/>
          <a:p>
            <a:fld id="{E38C46B0-32F4-4EFA-9B80-C34977460D4E}" type="slidenum">
              <a:rPr lang="en-ZA" smtClean="0"/>
              <a:t>‹#›</a:t>
            </a:fld>
            <a:endParaRPr lang="en-ZA"/>
          </a:p>
        </p:txBody>
      </p:sp>
    </p:spTree>
    <p:extLst>
      <p:ext uri="{BB962C8B-B14F-4D97-AF65-F5344CB8AC3E}">
        <p14:creationId xmlns:p14="http://schemas.microsoft.com/office/powerpoint/2010/main" val="36569136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41AF2-DE1C-2886-C98F-771CF75FCD20}"/>
              </a:ext>
            </a:extLst>
          </p:cNvPr>
          <p:cNvSpPr>
            <a:spLocks noGrp="1"/>
          </p:cNvSpPr>
          <p:nvPr>
            <p:ph type="title"/>
          </p:nvPr>
        </p:nvSpPr>
        <p:spPr/>
        <p:txBody>
          <a:bodyPr/>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E421FE3E-2F11-495A-7011-1A8EC36CA97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0F794282-A37C-1FE1-3D22-1608F8B30A88}"/>
              </a:ext>
            </a:extLst>
          </p:cNvPr>
          <p:cNvSpPr>
            <a:spLocks noGrp="1"/>
          </p:cNvSpPr>
          <p:nvPr>
            <p:ph type="dt" sz="half" idx="10"/>
          </p:nvPr>
        </p:nvSpPr>
        <p:spPr/>
        <p:txBody>
          <a:bodyPr/>
          <a:lstStyle/>
          <a:p>
            <a:fld id="{7F3B3D5B-6C5C-4BEA-81A9-0BF7095E51ED}" type="datetimeFigureOut">
              <a:rPr lang="en-ZA" smtClean="0"/>
              <a:t>2025/11/23</a:t>
            </a:fld>
            <a:endParaRPr lang="en-ZA"/>
          </a:p>
        </p:txBody>
      </p:sp>
      <p:sp>
        <p:nvSpPr>
          <p:cNvPr id="5" name="Footer Placeholder 4">
            <a:extLst>
              <a:ext uri="{FF2B5EF4-FFF2-40B4-BE49-F238E27FC236}">
                <a16:creationId xmlns:a16="http://schemas.microsoft.com/office/drawing/2014/main" id="{07F6E09D-7735-F1CC-07F5-6EA2A9B1F2EA}"/>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757E847E-6879-5002-2A65-839B1BF3BF98}"/>
              </a:ext>
            </a:extLst>
          </p:cNvPr>
          <p:cNvSpPr>
            <a:spLocks noGrp="1"/>
          </p:cNvSpPr>
          <p:nvPr>
            <p:ph type="sldNum" sz="quarter" idx="12"/>
          </p:nvPr>
        </p:nvSpPr>
        <p:spPr/>
        <p:txBody>
          <a:bodyPr/>
          <a:lstStyle/>
          <a:p>
            <a:fld id="{E38C46B0-32F4-4EFA-9B80-C34977460D4E}" type="slidenum">
              <a:rPr lang="en-ZA" smtClean="0"/>
              <a:t>‹#›</a:t>
            </a:fld>
            <a:endParaRPr lang="en-ZA"/>
          </a:p>
        </p:txBody>
      </p:sp>
    </p:spTree>
    <p:extLst>
      <p:ext uri="{BB962C8B-B14F-4D97-AF65-F5344CB8AC3E}">
        <p14:creationId xmlns:p14="http://schemas.microsoft.com/office/powerpoint/2010/main" val="11047999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84B08BB-AB3D-8550-F437-99BB0BD149F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7326B26B-654E-3AA1-7400-DA6E665A457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52F5EA31-2E4B-34D3-09AC-8736E4E06C69}"/>
              </a:ext>
            </a:extLst>
          </p:cNvPr>
          <p:cNvSpPr>
            <a:spLocks noGrp="1"/>
          </p:cNvSpPr>
          <p:nvPr>
            <p:ph type="dt" sz="half" idx="10"/>
          </p:nvPr>
        </p:nvSpPr>
        <p:spPr/>
        <p:txBody>
          <a:bodyPr/>
          <a:lstStyle/>
          <a:p>
            <a:fld id="{7F3B3D5B-6C5C-4BEA-81A9-0BF7095E51ED}" type="datetimeFigureOut">
              <a:rPr lang="en-ZA" smtClean="0"/>
              <a:t>2025/11/23</a:t>
            </a:fld>
            <a:endParaRPr lang="en-ZA"/>
          </a:p>
        </p:txBody>
      </p:sp>
      <p:sp>
        <p:nvSpPr>
          <p:cNvPr id="5" name="Footer Placeholder 4">
            <a:extLst>
              <a:ext uri="{FF2B5EF4-FFF2-40B4-BE49-F238E27FC236}">
                <a16:creationId xmlns:a16="http://schemas.microsoft.com/office/drawing/2014/main" id="{D55E9537-15BB-70A7-64E6-AA5BE45C3385}"/>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70D2124B-0054-649E-9CA2-CE576A13F389}"/>
              </a:ext>
            </a:extLst>
          </p:cNvPr>
          <p:cNvSpPr>
            <a:spLocks noGrp="1"/>
          </p:cNvSpPr>
          <p:nvPr>
            <p:ph type="sldNum" sz="quarter" idx="12"/>
          </p:nvPr>
        </p:nvSpPr>
        <p:spPr/>
        <p:txBody>
          <a:bodyPr/>
          <a:lstStyle/>
          <a:p>
            <a:fld id="{E38C46B0-32F4-4EFA-9B80-C34977460D4E}" type="slidenum">
              <a:rPr lang="en-ZA" smtClean="0"/>
              <a:t>‹#›</a:t>
            </a:fld>
            <a:endParaRPr lang="en-ZA"/>
          </a:p>
        </p:txBody>
      </p:sp>
    </p:spTree>
    <p:extLst>
      <p:ext uri="{BB962C8B-B14F-4D97-AF65-F5344CB8AC3E}">
        <p14:creationId xmlns:p14="http://schemas.microsoft.com/office/powerpoint/2010/main" val="31582929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338DF2A-3FAB-C631-4656-88D7C0D4453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ZA"/>
          </a:p>
        </p:txBody>
      </p:sp>
      <p:sp>
        <p:nvSpPr>
          <p:cNvPr id="3" name="Text Placeholder 2">
            <a:extLst>
              <a:ext uri="{FF2B5EF4-FFF2-40B4-BE49-F238E27FC236}">
                <a16:creationId xmlns:a16="http://schemas.microsoft.com/office/drawing/2014/main" id="{9D77CCA8-2861-E590-4A24-AB3DC67CEC2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B0913A26-DDE8-1AA5-28B4-2B6A12F144B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F3B3D5B-6C5C-4BEA-81A9-0BF7095E51ED}" type="datetimeFigureOut">
              <a:rPr lang="en-ZA" smtClean="0"/>
              <a:t>2025/11/23</a:t>
            </a:fld>
            <a:endParaRPr lang="en-ZA"/>
          </a:p>
        </p:txBody>
      </p:sp>
      <p:sp>
        <p:nvSpPr>
          <p:cNvPr id="5" name="Footer Placeholder 4">
            <a:extLst>
              <a:ext uri="{FF2B5EF4-FFF2-40B4-BE49-F238E27FC236}">
                <a16:creationId xmlns:a16="http://schemas.microsoft.com/office/drawing/2014/main" id="{75D7BCA6-711D-4504-8CE2-F20A8465EBF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ZA"/>
          </a:p>
        </p:txBody>
      </p:sp>
      <p:sp>
        <p:nvSpPr>
          <p:cNvPr id="6" name="Slide Number Placeholder 5">
            <a:extLst>
              <a:ext uri="{FF2B5EF4-FFF2-40B4-BE49-F238E27FC236}">
                <a16:creationId xmlns:a16="http://schemas.microsoft.com/office/drawing/2014/main" id="{7E7C369C-8676-46A6-238F-E3DAB8BE429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38C46B0-32F4-4EFA-9B80-C34977460D4E}" type="slidenum">
              <a:rPr lang="en-ZA" smtClean="0"/>
              <a:t>‹#›</a:t>
            </a:fld>
            <a:endParaRPr lang="en-ZA"/>
          </a:p>
        </p:txBody>
      </p:sp>
    </p:spTree>
    <p:extLst>
      <p:ext uri="{BB962C8B-B14F-4D97-AF65-F5344CB8AC3E}">
        <p14:creationId xmlns:p14="http://schemas.microsoft.com/office/powerpoint/2010/main" val="19479507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6.xml"/><Relationship Id="rId5" Type="http://schemas.openxmlformats.org/officeDocument/2006/relationships/image" Target="../media/image2.jpe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6.xml"/><Relationship Id="rId5" Type="http://schemas.openxmlformats.org/officeDocument/2006/relationships/image" Target="../media/image2.jpe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jpg"/><Relationship Id="rId1" Type="http://schemas.openxmlformats.org/officeDocument/2006/relationships/slideLayout" Target="../slideLayouts/slideLayout6.xml"/><Relationship Id="rId4" Type="http://schemas.openxmlformats.org/officeDocument/2006/relationships/image" Target="../media/image2.jpe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jpg"/><Relationship Id="rId1" Type="http://schemas.openxmlformats.org/officeDocument/2006/relationships/slideLayout" Target="../slideLayouts/slideLayout6.xml"/><Relationship Id="rId4" Type="http://schemas.openxmlformats.org/officeDocument/2006/relationships/image" Target="../media/image2.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6.xml"/><Relationship Id="rId5" Type="http://schemas.openxmlformats.org/officeDocument/2006/relationships/image" Target="../media/image2.jpeg"/><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2.png"/><Relationship Id="rId1" Type="http://schemas.openxmlformats.org/officeDocument/2006/relationships/slideLayout" Target="../slideLayouts/slideLayout6.xml"/><Relationship Id="rId4" Type="http://schemas.openxmlformats.org/officeDocument/2006/relationships/image" Target="../media/image2.jpeg"/></Relationships>
</file>

<file path=ppt/slides/_rels/slide1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3.png"/><Relationship Id="rId1" Type="http://schemas.openxmlformats.org/officeDocument/2006/relationships/slideLayout" Target="../slideLayouts/slideLayout6.xml"/><Relationship Id="rId4" Type="http://schemas.openxmlformats.org/officeDocument/2006/relationships/image" Target="../media/image2.jpeg"/></Relationships>
</file>

<file path=ppt/slides/_rels/slide1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60D09-62D5-2C71-BA23-037425E691AE}"/>
              </a:ext>
            </a:extLst>
          </p:cNvPr>
          <p:cNvSpPr>
            <a:spLocks noGrp="1"/>
          </p:cNvSpPr>
          <p:nvPr>
            <p:ph type="title"/>
          </p:nvPr>
        </p:nvSpPr>
        <p:spPr>
          <a:xfrm>
            <a:off x="1135267" y="3088660"/>
            <a:ext cx="10515600" cy="1325563"/>
          </a:xfrm>
        </p:spPr>
        <p:txBody>
          <a:bodyPr>
            <a:noAutofit/>
          </a:bodyPr>
          <a:lstStyle/>
          <a:p>
            <a:r>
              <a:rPr lang="en-GB" sz="2400" dirty="0"/>
              <a:t>Large Language Model Powered Agentic Framework for Cholera Risk Prediction with Explainable ML and Statistical Insights</a:t>
            </a:r>
            <a:endParaRPr lang="en-ZA" sz="2400" dirty="0"/>
          </a:p>
        </p:txBody>
      </p:sp>
      <p:sp>
        <p:nvSpPr>
          <p:cNvPr id="3" name="TextBox 2">
            <a:extLst>
              <a:ext uri="{FF2B5EF4-FFF2-40B4-BE49-F238E27FC236}">
                <a16:creationId xmlns:a16="http://schemas.microsoft.com/office/drawing/2014/main" id="{B672046E-F9A6-C495-B1F8-CB510FAAA8B8}"/>
              </a:ext>
            </a:extLst>
          </p:cNvPr>
          <p:cNvSpPr txBox="1"/>
          <p:nvPr/>
        </p:nvSpPr>
        <p:spPr>
          <a:xfrm>
            <a:off x="1135267" y="4414223"/>
            <a:ext cx="5348749" cy="646331"/>
          </a:xfrm>
          <a:prstGeom prst="rect">
            <a:avLst/>
          </a:prstGeom>
          <a:noFill/>
        </p:spPr>
        <p:txBody>
          <a:bodyPr wrap="square" rtlCol="0">
            <a:spAutoFit/>
          </a:bodyPr>
          <a:lstStyle/>
          <a:p>
            <a:r>
              <a:rPr lang="en-ZA" dirty="0" err="1"/>
              <a:t>Damelin</a:t>
            </a:r>
            <a:r>
              <a:rPr lang="en-ZA" dirty="0"/>
              <a:t> X</a:t>
            </a:r>
          </a:p>
          <a:p>
            <a:r>
              <a:rPr lang="en-ZA" dirty="0"/>
              <a:t>Prof </a:t>
            </a:r>
            <a:r>
              <a:rPr lang="en-ZA"/>
              <a:t>GG mailer</a:t>
            </a:r>
            <a:endParaRPr lang="en-ZA" dirty="0"/>
          </a:p>
        </p:txBody>
      </p:sp>
      <p:pic>
        <p:nvPicPr>
          <p:cNvPr id="1028" name="Picture 4" descr="Home | UWC">
            <a:extLst>
              <a:ext uri="{FF2B5EF4-FFF2-40B4-BE49-F238E27FC236}">
                <a16:creationId xmlns:a16="http://schemas.microsoft.com/office/drawing/2014/main" id="{DC0861D3-3998-849F-A42D-50A946ABDE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09840" y="5153958"/>
            <a:ext cx="1373537" cy="1373537"/>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Stellenbosch University (SU)">
            <a:extLst>
              <a:ext uri="{FF2B5EF4-FFF2-40B4-BE49-F238E27FC236}">
                <a16:creationId xmlns:a16="http://schemas.microsoft.com/office/drawing/2014/main" id="{19A5A5B2-EFB6-1386-57FD-70EDD9D653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74817" y="5319842"/>
            <a:ext cx="2781430" cy="111571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62517A40-A847-1AFC-947C-8AE59D345324}"/>
              </a:ext>
            </a:extLst>
          </p:cNvPr>
          <p:cNvPicPr>
            <a:picLocks noChangeAspect="1"/>
          </p:cNvPicPr>
          <p:nvPr/>
        </p:nvPicPr>
        <p:blipFill>
          <a:blip r:embed="rId4"/>
          <a:stretch>
            <a:fillRect/>
          </a:stretch>
        </p:blipFill>
        <p:spPr>
          <a:xfrm>
            <a:off x="304799" y="330505"/>
            <a:ext cx="11346067" cy="2613105"/>
          </a:xfrm>
          <a:prstGeom prst="rect">
            <a:avLst/>
          </a:prstGeom>
        </p:spPr>
      </p:pic>
    </p:spTree>
    <p:extLst>
      <p:ext uri="{BB962C8B-B14F-4D97-AF65-F5344CB8AC3E}">
        <p14:creationId xmlns:p14="http://schemas.microsoft.com/office/powerpoint/2010/main" val="18304051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C41DD4EA-CF7B-52A2-B6C0-0777F3B8D774}"/>
              </a:ext>
            </a:extLst>
          </p:cNvPr>
          <p:cNvSpPr>
            <a:spLocks noGrp="1"/>
          </p:cNvSpPr>
          <p:nvPr>
            <p:ph type="title"/>
          </p:nvPr>
        </p:nvSpPr>
        <p:spPr>
          <a:xfrm>
            <a:off x="6240184" y="252743"/>
            <a:ext cx="4434720" cy="663426"/>
          </a:xfrm>
        </p:spPr>
        <p:txBody>
          <a:bodyPr vert="horz" lIns="91440" tIns="45720" rIns="91440" bIns="45720" rtlCol="0" anchor="b">
            <a:normAutofit/>
          </a:bodyPr>
          <a:lstStyle/>
          <a:p>
            <a:r>
              <a:rPr lang="en-US" sz="4000" dirty="0"/>
              <a:t>Table of Contents</a:t>
            </a:r>
          </a:p>
        </p:txBody>
      </p:sp>
      <p:sp>
        <p:nvSpPr>
          <p:cNvPr id="12" name="Rectangle 11">
            <a:extLst>
              <a:ext uri="{FF2B5EF4-FFF2-40B4-BE49-F238E27FC236}">
                <a16:creationId xmlns:a16="http://schemas.microsoft.com/office/drawing/2014/main" id="{B5ABDEAA-B248-4182-B67C-A925338E77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3008" y="252743"/>
            <a:ext cx="4739619" cy="304261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4" name="Picture 4" descr="Home | UWC">
            <a:extLst>
              <a:ext uri="{FF2B5EF4-FFF2-40B4-BE49-F238E27FC236}">
                <a16:creationId xmlns:a16="http://schemas.microsoft.com/office/drawing/2014/main" id="{4C79B755-9D7B-6B8C-3E75-02AA5F9CD23E}"/>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258531" y="539762"/>
            <a:ext cx="2468573" cy="2468573"/>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13">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5449" y="3548095"/>
            <a:ext cx="4739619" cy="304261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 name="TextBox 2">
            <a:extLst>
              <a:ext uri="{FF2B5EF4-FFF2-40B4-BE49-F238E27FC236}">
                <a16:creationId xmlns:a16="http://schemas.microsoft.com/office/drawing/2014/main" id="{09531D73-7661-7B71-8D84-3E6EB8FD4A45}"/>
              </a:ext>
            </a:extLst>
          </p:cNvPr>
          <p:cNvSpPr txBox="1"/>
          <p:nvPr/>
        </p:nvSpPr>
        <p:spPr>
          <a:xfrm>
            <a:off x="6288076" y="1168912"/>
            <a:ext cx="5069183" cy="5282688"/>
          </a:xfrm>
          <a:prstGeom prst="rect">
            <a:avLst/>
          </a:prstGeom>
        </p:spPr>
        <p:txBody>
          <a:bodyPr vert="horz" lIns="91440" tIns="45720" rIns="91440" bIns="45720" rtlCol="0" anchor="t">
            <a:normAutofit fontScale="92500" lnSpcReduction="20000"/>
          </a:bodyPr>
          <a:lstStyle/>
          <a:p>
            <a:pPr indent="-228600">
              <a:lnSpc>
                <a:spcPct val="90000"/>
              </a:lnSpc>
              <a:spcAft>
                <a:spcPts val="600"/>
              </a:spcAft>
              <a:buFont typeface="Arial" panose="020B0604020202020204" pitchFamily="34" charset="0"/>
              <a:buChar char="•"/>
            </a:pPr>
            <a:r>
              <a:rPr lang="en-US" dirty="0"/>
              <a:t>01 The big picture</a:t>
            </a:r>
          </a:p>
          <a:p>
            <a:pPr indent="-228600">
              <a:lnSpc>
                <a:spcPct val="90000"/>
              </a:lnSpc>
              <a:spcAft>
                <a:spcPts val="600"/>
              </a:spcAft>
              <a:buFont typeface="Arial" panose="020B0604020202020204" pitchFamily="34" charset="0"/>
              <a:buChar char="•"/>
            </a:pPr>
            <a:r>
              <a:rPr lang="en-US" dirty="0"/>
              <a:t>02 Introduction</a:t>
            </a:r>
          </a:p>
          <a:p>
            <a:pPr indent="-228600">
              <a:lnSpc>
                <a:spcPct val="90000"/>
              </a:lnSpc>
              <a:spcAft>
                <a:spcPts val="600"/>
              </a:spcAft>
              <a:buFont typeface="Arial" panose="020B0604020202020204" pitchFamily="34" charset="0"/>
              <a:buChar char="•"/>
            </a:pPr>
            <a:r>
              <a:rPr lang="en-US" dirty="0"/>
              <a:t>03 Research Question</a:t>
            </a:r>
          </a:p>
          <a:p>
            <a:pPr indent="-228600">
              <a:lnSpc>
                <a:spcPct val="90000"/>
              </a:lnSpc>
              <a:spcAft>
                <a:spcPts val="600"/>
              </a:spcAft>
              <a:buFont typeface="Arial" panose="020B0604020202020204" pitchFamily="34" charset="0"/>
              <a:buChar char="•"/>
            </a:pPr>
            <a:r>
              <a:rPr lang="en-US" dirty="0"/>
              <a:t>04 Dataset </a:t>
            </a:r>
          </a:p>
          <a:p>
            <a:pPr marL="742950" lvl="1" indent="-228600">
              <a:lnSpc>
                <a:spcPct val="90000"/>
              </a:lnSpc>
              <a:spcAft>
                <a:spcPts val="600"/>
              </a:spcAft>
              <a:buFont typeface="Arial" panose="020B0604020202020204" pitchFamily="34" charset="0"/>
              <a:buChar char="•"/>
            </a:pPr>
            <a:r>
              <a:rPr lang="en-US" dirty="0"/>
              <a:t>Description</a:t>
            </a:r>
          </a:p>
          <a:p>
            <a:pPr marL="742950" lvl="1" indent="-228600">
              <a:lnSpc>
                <a:spcPct val="90000"/>
              </a:lnSpc>
              <a:spcAft>
                <a:spcPts val="600"/>
              </a:spcAft>
              <a:buFont typeface="Arial" panose="020B0604020202020204" pitchFamily="34" charset="0"/>
              <a:buChar char="•"/>
            </a:pPr>
            <a:r>
              <a:rPr lang="en-US" dirty="0"/>
              <a:t>Preprocessing</a:t>
            </a:r>
          </a:p>
          <a:p>
            <a:pPr indent="-228600">
              <a:lnSpc>
                <a:spcPct val="90000"/>
              </a:lnSpc>
              <a:spcAft>
                <a:spcPts val="600"/>
              </a:spcAft>
              <a:buFont typeface="Arial" panose="020B0604020202020204" pitchFamily="34" charset="0"/>
              <a:buChar char="•"/>
            </a:pPr>
            <a:r>
              <a:rPr lang="en-US" dirty="0"/>
              <a:t>05 Methodology</a:t>
            </a:r>
          </a:p>
          <a:p>
            <a:pPr marL="742950" lvl="1" indent="-228600">
              <a:lnSpc>
                <a:spcPct val="90000"/>
              </a:lnSpc>
              <a:spcAft>
                <a:spcPts val="600"/>
              </a:spcAft>
              <a:buFont typeface="Arial" panose="020B0604020202020204" pitchFamily="34" charset="0"/>
              <a:buChar char="•"/>
            </a:pPr>
            <a:r>
              <a:rPr lang="en-US" dirty="0"/>
              <a:t>Knowledge base</a:t>
            </a:r>
          </a:p>
          <a:p>
            <a:pPr marL="742950" lvl="1" indent="-228600">
              <a:lnSpc>
                <a:spcPct val="90000"/>
              </a:lnSpc>
              <a:spcAft>
                <a:spcPts val="600"/>
              </a:spcAft>
              <a:buFont typeface="Arial" panose="020B0604020202020204" pitchFamily="34" charset="0"/>
              <a:buChar char="•"/>
            </a:pPr>
            <a:r>
              <a:rPr lang="en-US" dirty="0"/>
              <a:t>LLM framework</a:t>
            </a:r>
          </a:p>
          <a:p>
            <a:pPr indent="-228600">
              <a:lnSpc>
                <a:spcPct val="90000"/>
              </a:lnSpc>
              <a:spcAft>
                <a:spcPts val="600"/>
              </a:spcAft>
              <a:buFont typeface="Arial" panose="020B0604020202020204" pitchFamily="34" charset="0"/>
              <a:buChar char="•"/>
            </a:pPr>
            <a:r>
              <a:rPr lang="en-US" dirty="0"/>
              <a:t>06 </a:t>
            </a:r>
            <a:r>
              <a:rPr lang="en-US" dirty="0" err="1"/>
              <a:t>Langchain</a:t>
            </a:r>
            <a:r>
              <a:rPr lang="en-US" dirty="0"/>
              <a:t> + </a:t>
            </a:r>
            <a:r>
              <a:rPr lang="en-US" dirty="0" err="1"/>
              <a:t>Langraph</a:t>
            </a:r>
            <a:r>
              <a:rPr lang="en-US" dirty="0"/>
              <a:t> Integration</a:t>
            </a:r>
          </a:p>
          <a:p>
            <a:pPr indent="-228600">
              <a:lnSpc>
                <a:spcPct val="90000"/>
              </a:lnSpc>
              <a:spcAft>
                <a:spcPts val="600"/>
              </a:spcAft>
              <a:buFont typeface="Arial" panose="020B0604020202020204" pitchFamily="34" charset="0"/>
              <a:buChar char="•"/>
            </a:pPr>
            <a:r>
              <a:rPr lang="en-US" dirty="0"/>
              <a:t>07 </a:t>
            </a:r>
            <a:r>
              <a:rPr lang="en-US" dirty="0" err="1"/>
              <a:t>Streamlit</a:t>
            </a:r>
            <a:r>
              <a:rPr lang="en-US" dirty="0"/>
              <a:t> UI</a:t>
            </a:r>
          </a:p>
          <a:p>
            <a:pPr indent="-228600">
              <a:lnSpc>
                <a:spcPct val="90000"/>
              </a:lnSpc>
              <a:spcAft>
                <a:spcPts val="600"/>
              </a:spcAft>
              <a:buFont typeface="Arial" panose="020B0604020202020204" pitchFamily="34" charset="0"/>
              <a:buChar char="•"/>
            </a:pPr>
            <a:r>
              <a:rPr lang="en-US" dirty="0"/>
              <a:t>08 Results</a:t>
            </a:r>
          </a:p>
          <a:p>
            <a:pPr marL="742950" lvl="1" indent="-228600">
              <a:lnSpc>
                <a:spcPct val="90000"/>
              </a:lnSpc>
              <a:spcAft>
                <a:spcPts val="600"/>
              </a:spcAft>
              <a:buFont typeface="Arial" panose="020B0604020202020204" pitchFamily="34" charset="0"/>
              <a:buChar char="•"/>
            </a:pPr>
            <a:r>
              <a:rPr lang="en-US" dirty="0"/>
              <a:t>Evaluation – Model Performance</a:t>
            </a:r>
          </a:p>
          <a:p>
            <a:pPr marL="742950" lvl="1" indent="-228600">
              <a:lnSpc>
                <a:spcPct val="90000"/>
              </a:lnSpc>
              <a:spcAft>
                <a:spcPts val="600"/>
              </a:spcAft>
              <a:buFont typeface="Arial" panose="020B0604020202020204" pitchFamily="34" charset="0"/>
              <a:buChar char="•"/>
            </a:pPr>
            <a:r>
              <a:rPr lang="en-US" dirty="0"/>
              <a:t>Feature Importance</a:t>
            </a:r>
          </a:p>
          <a:p>
            <a:pPr marL="742950" lvl="1" indent="-228600">
              <a:lnSpc>
                <a:spcPct val="90000"/>
              </a:lnSpc>
              <a:spcAft>
                <a:spcPts val="600"/>
              </a:spcAft>
              <a:buFont typeface="Arial" panose="020B0604020202020204" pitchFamily="34" charset="0"/>
              <a:buChar char="•"/>
            </a:pPr>
            <a:r>
              <a:rPr lang="en-US" dirty="0"/>
              <a:t>Model Performance</a:t>
            </a:r>
          </a:p>
          <a:p>
            <a:pPr indent="-228600">
              <a:lnSpc>
                <a:spcPct val="90000"/>
              </a:lnSpc>
              <a:spcAft>
                <a:spcPts val="600"/>
              </a:spcAft>
              <a:buFont typeface="Arial" panose="020B0604020202020204" pitchFamily="34" charset="0"/>
              <a:buChar char="•"/>
            </a:pPr>
            <a:r>
              <a:rPr lang="en-US" dirty="0"/>
              <a:t>09 Example – User query</a:t>
            </a:r>
          </a:p>
          <a:p>
            <a:pPr indent="-228600">
              <a:lnSpc>
                <a:spcPct val="90000"/>
              </a:lnSpc>
              <a:spcAft>
                <a:spcPts val="600"/>
              </a:spcAft>
              <a:buFont typeface="Arial" panose="020B0604020202020204" pitchFamily="34" charset="0"/>
              <a:buChar char="•"/>
            </a:pPr>
            <a:r>
              <a:rPr lang="en-US" dirty="0"/>
              <a:t>10 The Interface</a:t>
            </a:r>
          </a:p>
          <a:p>
            <a:pPr indent="-228600">
              <a:lnSpc>
                <a:spcPct val="90000"/>
              </a:lnSpc>
              <a:spcAft>
                <a:spcPts val="600"/>
              </a:spcAft>
              <a:buFont typeface="Arial" panose="020B0604020202020204" pitchFamily="34" charset="0"/>
              <a:buChar char="•"/>
            </a:pPr>
            <a:r>
              <a:rPr lang="en-US" dirty="0"/>
              <a:t>11 Sample Agent response</a:t>
            </a:r>
          </a:p>
          <a:p>
            <a:pPr indent="-228600">
              <a:lnSpc>
                <a:spcPct val="90000"/>
              </a:lnSpc>
              <a:spcAft>
                <a:spcPts val="600"/>
              </a:spcAft>
              <a:buFont typeface="Arial" panose="020B0604020202020204" pitchFamily="34" charset="0"/>
              <a:buChar char="•"/>
            </a:pPr>
            <a:r>
              <a:rPr lang="en-US" dirty="0"/>
              <a:t>12 Discussion</a:t>
            </a:r>
          </a:p>
          <a:p>
            <a:pPr indent="-228600">
              <a:lnSpc>
                <a:spcPct val="90000"/>
              </a:lnSpc>
              <a:spcAft>
                <a:spcPts val="600"/>
              </a:spcAft>
              <a:buFont typeface="Arial" panose="020B0604020202020204" pitchFamily="34" charset="0"/>
              <a:buChar char="•"/>
            </a:pPr>
            <a:r>
              <a:rPr lang="en-US" dirty="0"/>
              <a:t>13 Conclusion</a:t>
            </a:r>
          </a:p>
          <a:p>
            <a:pPr indent="-228600">
              <a:lnSpc>
                <a:spcPct val="90000"/>
              </a:lnSpc>
              <a:spcAft>
                <a:spcPts val="600"/>
              </a:spcAft>
              <a:buFont typeface="Arial" panose="020B0604020202020204" pitchFamily="34" charset="0"/>
              <a:buChar char="•"/>
            </a:pPr>
            <a:endParaRPr lang="en-US" sz="700" dirty="0"/>
          </a:p>
          <a:p>
            <a:pPr indent="-228600">
              <a:lnSpc>
                <a:spcPct val="90000"/>
              </a:lnSpc>
              <a:spcAft>
                <a:spcPts val="600"/>
              </a:spcAft>
              <a:buFont typeface="Arial" panose="020B0604020202020204" pitchFamily="34" charset="0"/>
              <a:buChar char="•"/>
            </a:pPr>
            <a:endParaRPr lang="en-US" sz="700" dirty="0"/>
          </a:p>
          <a:p>
            <a:pPr indent="-228600">
              <a:lnSpc>
                <a:spcPct val="90000"/>
              </a:lnSpc>
              <a:spcAft>
                <a:spcPts val="600"/>
              </a:spcAft>
              <a:buFont typeface="Arial" panose="020B0604020202020204" pitchFamily="34" charset="0"/>
              <a:buChar char="•"/>
            </a:pPr>
            <a:endParaRPr lang="en-US" sz="700" dirty="0"/>
          </a:p>
          <a:p>
            <a:pPr indent="-228600">
              <a:lnSpc>
                <a:spcPct val="90000"/>
              </a:lnSpc>
              <a:spcAft>
                <a:spcPts val="600"/>
              </a:spcAft>
              <a:buFont typeface="Arial" panose="020B0604020202020204" pitchFamily="34" charset="0"/>
              <a:buChar char="•"/>
            </a:pPr>
            <a:endParaRPr lang="en-US" sz="700" dirty="0"/>
          </a:p>
        </p:txBody>
      </p:sp>
      <p:pic>
        <p:nvPicPr>
          <p:cNvPr id="5" name="Picture 6" descr="Stellenbosch University (SU)">
            <a:extLst>
              <a:ext uri="{FF2B5EF4-FFF2-40B4-BE49-F238E27FC236}">
                <a16:creationId xmlns:a16="http://schemas.microsoft.com/office/drawing/2014/main" id="{9637EC1D-2597-955C-32B7-315670A6C509}"/>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54351" y="4210618"/>
            <a:ext cx="4281815" cy="1717564"/>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Straight Connector 15">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9478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F566D-B9FF-3933-24E0-5CB1BBE5A514}"/>
              </a:ext>
            </a:extLst>
          </p:cNvPr>
          <p:cNvSpPr>
            <a:spLocks noGrp="1"/>
          </p:cNvSpPr>
          <p:nvPr>
            <p:ph type="title"/>
          </p:nvPr>
        </p:nvSpPr>
        <p:spPr/>
        <p:txBody>
          <a:bodyPr/>
          <a:lstStyle/>
          <a:p>
            <a:r>
              <a:rPr lang="en-ZA" dirty="0"/>
              <a:t>The Big picture</a:t>
            </a:r>
          </a:p>
        </p:txBody>
      </p:sp>
      <p:sp>
        <p:nvSpPr>
          <p:cNvPr id="4" name="TextBox 3">
            <a:extLst>
              <a:ext uri="{FF2B5EF4-FFF2-40B4-BE49-F238E27FC236}">
                <a16:creationId xmlns:a16="http://schemas.microsoft.com/office/drawing/2014/main" id="{5288A52A-F0D1-9483-2696-1EF1AAC667E6}"/>
              </a:ext>
            </a:extLst>
          </p:cNvPr>
          <p:cNvSpPr txBox="1"/>
          <p:nvPr/>
        </p:nvSpPr>
        <p:spPr>
          <a:xfrm>
            <a:off x="619432" y="1690688"/>
            <a:ext cx="9606116" cy="1200329"/>
          </a:xfrm>
          <a:prstGeom prst="rect">
            <a:avLst/>
          </a:prstGeom>
          <a:noFill/>
        </p:spPr>
        <p:txBody>
          <a:bodyPr wrap="square">
            <a:spAutoFit/>
          </a:bodyPr>
          <a:lstStyle/>
          <a:p>
            <a:r>
              <a:rPr lang="en-GB" dirty="0"/>
              <a:t>Cholera is a waterborne disease and a major public health challenge. To predict outbreaks or analyse cholera patterns, we ideally need reliable data such as water quality reports, water treatment records, demographic information, and epidemiological or clinical data. But in many instances, these types of data are limited or unavailable.</a:t>
            </a:r>
            <a:endParaRPr lang="en-ZA" dirty="0"/>
          </a:p>
        </p:txBody>
      </p:sp>
      <p:sp>
        <p:nvSpPr>
          <p:cNvPr id="5" name="TextBox 4">
            <a:extLst>
              <a:ext uri="{FF2B5EF4-FFF2-40B4-BE49-F238E27FC236}">
                <a16:creationId xmlns:a16="http://schemas.microsoft.com/office/drawing/2014/main" id="{E1F2DEEE-C9B2-5647-74D1-24ED35A7758A}"/>
              </a:ext>
            </a:extLst>
          </p:cNvPr>
          <p:cNvSpPr txBox="1"/>
          <p:nvPr/>
        </p:nvSpPr>
        <p:spPr>
          <a:xfrm>
            <a:off x="2140974" y="3514572"/>
            <a:ext cx="8777748" cy="646331"/>
          </a:xfrm>
          <a:prstGeom prst="rect">
            <a:avLst/>
          </a:prstGeom>
          <a:noFill/>
        </p:spPr>
        <p:txBody>
          <a:bodyPr wrap="square">
            <a:spAutoFit/>
          </a:bodyPr>
          <a:lstStyle/>
          <a:p>
            <a:r>
              <a:rPr lang="en-GB" dirty="0"/>
              <a:t>The question then becomes: </a:t>
            </a:r>
            <a:r>
              <a:rPr lang="en-GB" b="1" dirty="0"/>
              <a:t>what can we do in a data-constrained environment?</a:t>
            </a:r>
            <a:br>
              <a:rPr lang="en-GB" dirty="0"/>
            </a:br>
            <a:endParaRPr lang="en-ZA" dirty="0"/>
          </a:p>
        </p:txBody>
      </p:sp>
      <p:pic>
        <p:nvPicPr>
          <p:cNvPr id="7" name="Graphic 6" descr="Help with solid fill">
            <a:extLst>
              <a:ext uri="{FF2B5EF4-FFF2-40B4-BE49-F238E27FC236}">
                <a16:creationId xmlns:a16="http://schemas.microsoft.com/office/drawing/2014/main" id="{C5BB36C6-F512-4A01-F6B4-E970E41D9E1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35626" y="3367548"/>
            <a:ext cx="914400" cy="914400"/>
          </a:xfrm>
          <a:prstGeom prst="rect">
            <a:avLst/>
          </a:prstGeom>
        </p:spPr>
      </p:pic>
      <p:sp>
        <p:nvSpPr>
          <p:cNvPr id="9" name="TextBox 8">
            <a:extLst>
              <a:ext uri="{FF2B5EF4-FFF2-40B4-BE49-F238E27FC236}">
                <a16:creationId xmlns:a16="http://schemas.microsoft.com/office/drawing/2014/main" id="{2C0293D2-9B79-AEC3-53EA-45D390127FF8}"/>
              </a:ext>
            </a:extLst>
          </p:cNvPr>
          <p:cNvSpPr txBox="1"/>
          <p:nvPr/>
        </p:nvSpPr>
        <p:spPr>
          <a:xfrm>
            <a:off x="737419" y="4428648"/>
            <a:ext cx="10717162" cy="1477328"/>
          </a:xfrm>
          <a:prstGeom prst="rect">
            <a:avLst/>
          </a:prstGeom>
          <a:noFill/>
        </p:spPr>
        <p:txBody>
          <a:bodyPr wrap="square">
            <a:spAutoFit/>
          </a:bodyPr>
          <a:lstStyle/>
          <a:p>
            <a:r>
              <a:rPr lang="en-GB" dirty="0"/>
              <a:t>When traditional data sources are missing, we can turn to alternative forms of information. Social media posts, publicly available datasets, environmental data, mobility patterns, and other unconventional sources can help fill the gaps. By combining these alternative data streams, we can still perform meaningful analyses and predictions of cholera. Using </a:t>
            </a:r>
            <a:r>
              <a:rPr lang="en-GB" i="1" dirty="0"/>
              <a:t>non-traditional</a:t>
            </a:r>
            <a:r>
              <a:rPr lang="en-GB" dirty="0"/>
              <a:t>, accessible data to overcome resource limitations is the core of my research.</a:t>
            </a:r>
            <a:endParaRPr lang="en-ZA" dirty="0"/>
          </a:p>
        </p:txBody>
      </p:sp>
      <p:pic>
        <p:nvPicPr>
          <p:cNvPr id="10" name="Picture 4" descr="Home | UWC">
            <a:extLst>
              <a:ext uri="{FF2B5EF4-FFF2-40B4-BE49-F238E27FC236}">
                <a16:creationId xmlns:a16="http://schemas.microsoft.com/office/drawing/2014/main" id="{526B6CCE-BB99-922B-5E58-6F2CF021C7C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45699" y="5698534"/>
            <a:ext cx="910565" cy="910565"/>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6" descr="Stellenbosch University (SU)">
            <a:extLst>
              <a:ext uri="{FF2B5EF4-FFF2-40B4-BE49-F238E27FC236}">
                <a16:creationId xmlns:a16="http://schemas.microsoft.com/office/drawing/2014/main" id="{D2767AAD-9E2B-F656-3A53-706836C8FE7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610676" y="5777515"/>
            <a:ext cx="1843905" cy="7396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266669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C1EDD-7043-628A-04D0-59FF33690ED7}"/>
              </a:ext>
            </a:extLst>
          </p:cNvPr>
          <p:cNvSpPr>
            <a:spLocks noGrp="1"/>
          </p:cNvSpPr>
          <p:nvPr>
            <p:ph type="title"/>
          </p:nvPr>
        </p:nvSpPr>
        <p:spPr/>
        <p:txBody>
          <a:bodyPr/>
          <a:lstStyle/>
          <a:p>
            <a:r>
              <a:rPr lang="en-ZA" dirty="0"/>
              <a:t>Introduction</a:t>
            </a:r>
          </a:p>
        </p:txBody>
      </p:sp>
      <p:sp>
        <p:nvSpPr>
          <p:cNvPr id="5" name="TextBox 4">
            <a:extLst>
              <a:ext uri="{FF2B5EF4-FFF2-40B4-BE49-F238E27FC236}">
                <a16:creationId xmlns:a16="http://schemas.microsoft.com/office/drawing/2014/main" id="{0463A0D7-8BFC-C9CE-C6CD-CBA6C6D75A2C}"/>
              </a:ext>
            </a:extLst>
          </p:cNvPr>
          <p:cNvSpPr txBox="1"/>
          <p:nvPr/>
        </p:nvSpPr>
        <p:spPr>
          <a:xfrm>
            <a:off x="838201" y="1723298"/>
            <a:ext cx="10026444" cy="3693319"/>
          </a:xfrm>
          <a:prstGeom prst="rect">
            <a:avLst/>
          </a:prstGeom>
          <a:noFill/>
        </p:spPr>
        <p:txBody>
          <a:bodyPr wrap="square">
            <a:spAutoFit/>
          </a:bodyPr>
          <a:lstStyle/>
          <a:p>
            <a:r>
              <a:rPr lang="en-GB" dirty="0"/>
              <a:t>With the big picture in mind, this study narrowly explored how interpretable machine learning and large language model (LLM)–driven reasoning can work together to provide transparent, actionable insights. Specifically, the research investigates how an LLM-powered agentic framework can integrate explainable ML models with statistical reasoning to identify key risk factors for cholera across multiple regions.</a:t>
            </a:r>
          </a:p>
          <a:p>
            <a:endParaRPr lang="en-GB" dirty="0"/>
          </a:p>
          <a:p>
            <a:endParaRPr lang="en-GB" dirty="0"/>
          </a:p>
          <a:p>
            <a:r>
              <a:rPr lang="en-GB" dirty="0"/>
              <a:t>This work contributes by:</a:t>
            </a:r>
          </a:p>
          <a:p>
            <a:endParaRPr lang="en-GB" dirty="0"/>
          </a:p>
          <a:p>
            <a:pPr marL="285750" indent="-285750">
              <a:buFont typeface="Arial" panose="020B0604020202020204" pitchFamily="34" charset="0"/>
              <a:buChar char="•"/>
            </a:pPr>
            <a:r>
              <a:rPr lang="en-GB" dirty="0"/>
              <a:t>Developing a multi-model analytical pipeline using EBM, </a:t>
            </a:r>
            <a:r>
              <a:rPr lang="en-GB" dirty="0" err="1"/>
              <a:t>NGBoost</a:t>
            </a:r>
            <a:r>
              <a:rPr lang="en-GB" dirty="0"/>
              <a:t>, and </a:t>
            </a:r>
            <a:r>
              <a:rPr lang="en-GB" dirty="0" err="1"/>
              <a:t>TabNet</a:t>
            </a:r>
            <a:r>
              <a:rPr lang="en-GB" dirty="0"/>
              <a:t> to analyse cholera risk factors.</a:t>
            </a:r>
          </a:p>
          <a:p>
            <a:pPr marL="285750" indent="-285750">
              <a:buFont typeface="Arial" panose="020B0604020202020204" pitchFamily="34" charset="0"/>
              <a:buChar char="•"/>
            </a:pPr>
            <a:r>
              <a:rPr lang="en-GB" dirty="0"/>
              <a:t>Integrating a </a:t>
            </a:r>
            <a:r>
              <a:rPr lang="en-GB" dirty="0" err="1"/>
              <a:t>LangChain</a:t>
            </a:r>
            <a:r>
              <a:rPr lang="en-GB" dirty="0"/>
              <a:t>-based LLM agent that interprets model outputs, supports natural language querying, and enhances decision-making in data-constrained environments.</a:t>
            </a:r>
            <a:endParaRPr lang="en-ZA" dirty="0"/>
          </a:p>
        </p:txBody>
      </p:sp>
      <p:pic>
        <p:nvPicPr>
          <p:cNvPr id="6" name="Picture 4" descr="Home | UWC">
            <a:extLst>
              <a:ext uri="{FF2B5EF4-FFF2-40B4-BE49-F238E27FC236}">
                <a16:creationId xmlns:a16="http://schemas.microsoft.com/office/drawing/2014/main" id="{E7789C32-0071-33F1-03DB-4C38541CE4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87357" y="5794161"/>
            <a:ext cx="698714" cy="698714"/>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Stellenbosch University (SU)">
            <a:extLst>
              <a:ext uri="{FF2B5EF4-FFF2-40B4-BE49-F238E27FC236}">
                <a16:creationId xmlns:a16="http://schemas.microsoft.com/office/drawing/2014/main" id="{028864CC-713E-EB45-3333-A78792F7C6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74817" y="5867997"/>
            <a:ext cx="1414904" cy="5675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356359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954B44-A68B-F884-7879-5C2750565DF6}"/>
              </a:ext>
            </a:extLst>
          </p:cNvPr>
          <p:cNvSpPr>
            <a:spLocks noGrp="1"/>
          </p:cNvSpPr>
          <p:nvPr>
            <p:ph type="title"/>
          </p:nvPr>
        </p:nvSpPr>
        <p:spPr/>
        <p:txBody>
          <a:bodyPr/>
          <a:lstStyle/>
          <a:p>
            <a:r>
              <a:rPr lang="en-ZA" dirty="0"/>
              <a:t>Research Question</a:t>
            </a:r>
          </a:p>
        </p:txBody>
      </p:sp>
      <p:sp>
        <p:nvSpPr>
          <p:cNvPr id="4" name="TextBox 3">
            <a:extLst>
              <a:ext uri="{FF2B5EF4-FFF2-40B4-BE49-F238E27FC236}">
                <a16:creationId xmlns:a16="http://schemas.microsoft.com/office/drawing/2014/main" id="{3DFD118E-D622-406A-9B80-B3A176BB7A1F}"/>
              </a:ext>
            </a:extLst>
          </p:cNvPr>
          <p:cNvSpPr txBox="1"/>
          <p:nvPr/>
        </p:nvSpPr>
        <p:spPr>
          <a:xfrm>
            <a:off x="838200" y="1877961"/>
            <a:ext cx="9357852" cy="1015663"/>
          </a:xfrm>
          <a:prstGeom prst="rect">
            <a:avLst/>
          </a:prstGeom>
          <a:noFill/>
        </p:spPr>
        <p:txBody>
          <a:bodyPr wrap="square">
            <a:spAutoFit/>
          </a:bodyPr>
          <a:lstStyle/>
          <a:p>
            <a:r>
              <a:rPr lang="en-GB" sz="2000" b="0" i="0" u="none" strike="noStrike" baseline="0" dirty="0">
                <a:solidFill>
                  <a:srgbClr val="000000"/>
                </a:solidFill>
                <a:latin typeface="Times New Roman" panose="02020603050405020304" pitchFamily="18" charset="0"/>
              </a:rPr>
              <a:t>How can an LLM-powered agentic framework integrate explainable machine learning and statistical reasoning to identify key risk factors for Cholera incidence across multiple regions? </a:t>
            </a:r>
          </a:p>
        </p:txBody>
      </p:sp>
      <p:sp>
        <p:nvSpPr>
          <p:cNvPr id="6" name="TextBox 5">
            <a:extLst>
              <a:ext uri="{FF2B5EF4-FFF2-40B4-BE49-F238E27FC236}">
                <a16:creationId xmlns:a16="http://schemas.microsoft.com/office/drawing/2014/main" id="{490D8738-65EC-0063-0A75-CB391449F5C6}"/>
              </a:ext>
            </a:extLst>
          </p:cNvPr>
          <p:cNvSpPr txBox="1"/>
          <p:nvPr/>
        </p:nvSpPr>
        <p:spPr>
          <a:xfrm>
            <a:off x="943897" y="5338745"/>
            <a:ext cx="10844980" cy="1200329"/>
          </a:xfrm>
          <a:prstGeom prst="rect">
            <a:avLst/>
          </a:prstGeom>
          <a:noFill/>
        </p:spPr>
        <p:txBody>
          <a:bodyPr wrap="square">
            <a:spAutoFit/>
          </a:bodyPr>
          <a:lstStyle/>
          <a:p>
            <a:r>
              <a:rPr lang="en-GB" dirty="0"/>
              <a:t>Bottom line: When ideal data isn't available, we use explainable AI and natural language processing to extract insights from what we </a:t>
            </a:r>
            <a:r>
              <a:rPr lang="en-GB" i="1" dirty="0"/>
              <a:t>do</a:t>
            </a:r>
            <a:r>
              <a:rPr lang="en-GB" dirty="0"/>
              <a:t> have, making cholera prediction or analyses possible.</a:t>
            </a:r>
            <a:r>
              <a:rPr lang="en-GB" b="0" i="0" dirty="0">
                <a:solidFill>
                  <a:srgbClr val="FAF9F5"/>
                </a:solidFill>
                <a:effectLst/>
                <a:latin typeface="anthropicSerif"/>
              </a:rPr>
              <a:t>.</a:t>
            </a:r>
          </a:p>
          <a:p>
            <a:pPr>
              <a:buNone/>
            </a:pPr>
            <a:br>
              <a:rPr lang="en-GB" dirty="0"/>
            </a:br>
            <a:endParaRPr lang="en-ZA" dirty="0"/>
          </a:p>
        </p:txBody>
      </p:sp>
      <p:pic>
        <p:nvPicPr>
          <p:cNvPr id="8" name="Graphic 7" descr="Lightbulb and gear outline">
            <a:extLst>
              <a:ext uri="{FF2B5EF4-FFF2-40B4-BE49-F238E27FC236}">
                <a16:creationId xmlns:a16="http://schemas.microsoft.com/office/drawing/2014/main" id="{A15A2B6A-A887-EA6E-4952-AFEED4745A9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9497" y="5125064"/>
            <a:ext cx="914400" cy="914400"/>
          </a:xfrm>
          <a:prstGeom prst="rect">
            <a:avLst/>
          </a:prstGeom>
        </p:spPr>
      </p:pic>
      <p:pic>
        <p:nvPicPr>
          <p:cNvPr id="9" name="Picture 4" descr="Home | UWC">
            <a:extLst>
              <a:ext uri="{FF2B5EF4-FFF2-40B4-BE49-F238E27FC236}">
                <a16:creationId xmlns:a16="http://schemas.microsoft.com/office/drawing/2014/main" id="{01726234-413B-F662-C6CD-BF8DF142E23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51436" y="5897678"/>
            <a:ext cx="698714" cy="698714"/>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descr="Stellenbosch University (SU)">
            <a:extLst>
              <a:ext uri="{FF2B5EF4-FFF2-40B4-BE49-F238E27FC236}">
                <a16:creationId xmlns:a16="http://schemas.microsoft.com/office/drawing/2014/main" id="{2D147E61-3A49-F369-3C03-AADD8C7F21A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938896" y="5971514"/>
            <a:ext cx="1414904" cy="5675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41236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B25432-DC9A-4569-A314-21C1DC5742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C1C969-A719-967B-246A-F3D8A293D050}"/>
              </a:ext>
            </a:extLst>
          </p:cNvPr>
          <p:cNvSpPr>
            <a:spLocks noGrp="1"/>
          </p:cNvSpPr>
          <p:nvPr>
            <p:ph type="title"/>
          </p:nvPr>
        </p:nvSpPr>
        <p:spPr/>
        <p:txBody>
          <a:bodyPr/>
          <a:lstStyle/>
          <a:p>
            <a:r>
              <a:rPr lang="en-ZA" dirty="0"/>
              <a:t>Dataset Description</a:t>
            </a:r>
          </a:p>
        </p:txBody>
      </p:sp>
      <p:sp>
        <p:nvSpPr>
          <p:cNvPr id="4" name="TextBox 3">
            <a:extLst>
              <a:ext uri="{FF2B5EF4-FFF2-40B4-BE49-F238E27FC236}">
                <a16:creationId xmlns:a16="http://schemas.microsoft.com/office/drawing/2014/main" id="{BAA059D9-AD99-6A2C-CA6A-9A8A45DCA646}"/>
              </a:ext>
            </a:extLst>
          </p:cNvPr>
          <p:cNvSpPr txBox="1"/>
          <p:nvPr/>
        </p:nvSpPr>
        <p:spPr>
          <a:xfrm>
            <a:off x="838200" y="1877961"/>
            <a:ext cx="9357852" cy="3785652"/>
          </a:xfrm>
          <a:prstGeom prst="rect">
            <a:avLst/>
          </a:prstGeom>
          <a:noFill/>
        </p:spPr>
        <p:txBody>
          <a:bodyPr wrap="square">
            <a:spAutoFit/>
          </a:bodyPr>
          <a:lstStyle/>
          <a:p>
            <a:pPr>
              <a:buNone/>
            </a:pPr>
            <a:r>
              <a:rPr lang="en-GB" sz="2000" b="1" dirty="0"/>
              <a:t>Source:</a:t>
            </a:r>
            <a:endParaRPr lang="en-GB" sz="2000" dirty="0"/>
          </a:p>
          <a:p>
            <a:pPr marL="342900" indent="-342900">
              <a:buFont typeface="Arial" panose="020B0604020202020204" pitchFamily="34" charset="0"/>
              <a:buChar char="•"/>
            </a:pPr>
            <a:r>
              <a:rPr lang="en-GB" sz="2000" i="1" dirty="0"/>
              <a:t>Water Pollution and Disease</a:t>
            </a:r>
            <a:r>
              <a:rPr lang="en-GB" sz="2000" dirty="0"/>
              <a:t> dataset from Kaggle</a:t>
            </a:r>
          </a:p>
          <a:p>
            <a:pPr marL="342900" indent="-342900">
              <a:buFont typeface="Arial" panose="020B0604020202020204" pitchFamily="34" charset="0"/>
              <a:buChar char="•"/>
            </a:pPr>
            <a:r>
              <a:rPr lang="en-GB" sz="2000" dirty="0"/>
              <a:t>Published: </a:t>
            </a:r>
            <a:r>
              <a:rPr lang="en-GB" sz="2000" b="1" dirty="0"/>
              <a:t>March 2025</a:t>
            </a:r>
            <a:endParaRPr lang="en-GB" sz="2000" dirty="0"/>
          </a:p>
          <a:p>
            <a:pPr marL="342900" indent="-342900">
              <a:buFont typeface="Arial" panose="020B0604020202020204" pitchFamily="34" charset="0"/>
              <a:buChar char="•"/>
            </a:pPr>
            <a:r>
              <a:rPr lang="en-GB" sz="2000" dirty="0"/>
              <a:t>Coverage: </a:t>
            </a:r>
            <a:r>
              <a:rPr lang="en-GB" sz="2000" b="1" dirty="0"/>
              <a:t>2000–2025</a:t>
            </a:r>
            <a:endParaRPr lang="en-GB" sz="2000" dirty="0"/>
          </a:p>
          <a:p>
            <a:pPr marL="342900" indent="-342900">
              <a:buFont typeface="Arial" panose="020B0604020202020204" pitchFamily="34" charset="0"/>
              <a:buChar char="•"/>
            </a:pPr>
            <a:r>
              <a:rPr lang="en-GB" sz="2000" dirty="0"/>
              <a:t>Focus: Environmental, socio-economic, and health factors influencing waterborne diseases, especially </a:t>
            </a:r>
            <a:r>
              <a:rPr lang="en-GB" sz="2000" b="1" dirty="0"/>
              <a:t>Cholera</a:t>
            </a:r>
          </a:p>
          <a:p>
            <a:pPr>
              <a:buFont typeface="Arial" panose="020B0604020202020204" pitchFamily="34" charset="0"/>
              <a:buChar char="•"/>
            </a:pPr>
            <a:endParaRPr lang="en-GB" sz="2000" dirty="0"/>
          </a:p>
          <a:p>
            <a:pPr>
              <a:buNone/>
            </a:pPr>
            <a:r>
              <a:rPr lang="en-GB" sz="2000" b="1" dirty="0"/>
              <a:t>Overview:</a:t>
            </a:r>
            <a:endParaRPr lang="en-GB" sz="2000" dirty="0"/>
          </a:p>
          <a:p>
            <a:pPr marL="342900" indent="-342900">
              <a:buFont typeface="Arial" panose="020B0604020202020204" pitchFamily="34" charset="0"/>
              <a:buChar char="•"/>
            </a:pPr>
            <a:r>
              <a:rPr lang="en-GB" sz="2000" dirty="0"/>
              <a:t>Provides a contemporary and comprehensive view of water pollution indicators and public health outcomes.</a:t>
            </a:r>
          </a:p>
          <a:p>
            <a:pPr marL="342900" indent="-342900">
              <a:buFont typeface="Arial" panose="020B0604020202020204" pitchFamily="34" charset="0"/>
              <a:buChar char="•"/>
            </a:pPr>
            <a:r>
              <a:rPr lang="en-GB" sz="2000" dirty="0"/>
              <a:t>Includes environmental metrics, socio-economic conditions, and cholera incidence across multiple regions.</a:t>
            </a:r>
          </a:p>
        </p:txBody>
      </p:sp>
      <p:pic>
        <p:nvPicPr>
          <p:cNvPr id="3" name="Picture 4" descr="Home | UWC">
            <a:extLst>
              <a:ext uri="{FF2B5EF4-FFF2-40B4-BE49-F238E27FC236}">
                <a16:creationId xmlns:a16="http://schemas.microsoft.com/office/drawing/2014/main" id="{035CE3F3-BD93-4CC3-9FC7-14A16F6DA2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87357" y="5794161"/>
            <a:ext cx="698714" cy="698714"/>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Stellenbosch University (SU)">
            <a:extLst>
              <a:ext uri="{FF2B5EF4-FFF2-40B4-BE49-F238E27FC236}">
                <a16:creationId xmlns:a16="http://schemas.microsoft.com/office/drawing/2014/main" id="{0932AB3A-7824-EDB6-AEF8-A4F2120A4B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74817" y="5867997"/>
            <a:ext cx="1414904" cy="5675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88335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B9AB92-B456-9D95-35D8-C42E767BD9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8D9AAA-68C7-1CA7-24FB-0A0168DC8BB2}"/>
              </a:ext>
            </a:extLst>
          </p:cNvPr>
          <p:cNvSpPr>
            <a:spLocks noGrp="1"/>
          </p:cNvSpPr>
          <p:nvPr>
            <p:ph type="title"/>
          </p:nvPr>
        </p:nvSpPr>
        <p:spPr>
          <a:xfrm>
            <a:off x="838200" y="365126"/>
            <a:ext cx="9003890" cy="677094"/>
          </a:xfrm>
        </p:spPr>
        <p:txBody>
          <a:bodyPr>
            <a:normAutofit/>
          </a:bodyPr>
          <a:lstStyle/>
          <a:p>
            <a:r>
              <a:rPr lang="en-ZA" sz="3600" dirty="0"/>
              <a:t>…Dataset Description</a:t>
            </a:r>
          </a:p>
        </p:txBody>
      </p:sp>
      <p:sp>
        <p:nvSpPr>
          <p:cNvPr id="4" name="TextBox 3">
            <a:extLst>
              <a:ext uri="{FF2B5EF4-FFF2-40B4-BE49-F238E27FC236}">
                <a16:creationId xmlns:a16="http://schemas.microsoft.com/office/drawing/2014/main" id="{C780FB40-AB95-A30A-29CA-6C45EAF4F779}"/>
              </a:ext>
            </a:extLst>
          </p:cNvPr>
          <p:cNvSpPr txBox="1"/>
          <p:nvPr/>
        </p:nvSpPr>
        <p:spPr>
          <a:xfrm>
            <a:off x="838200" y="1200867"/>
            <a:ext cx="9357852" cy="5355312"/>
          </a:xfrm>
          <a:prstGeom prst="rect">
            <a:avLst/>
          </a:prstGeom>
          <a:noFill/>
        </p:spPr>
        <p:txBody>
          <a:bodyPr wrap="square">
            <a:spAutoFit/>
          </a:bodyPr>
          <a:lstStyle/>
          <a:p>
            <a:pPr>
              <a:buNone/>
            </a:pPr>
            <a:r>
              <a:rPr lang="en-ZA" b="1" dirty="0"/>
              <a:t>Variables</a:t>
            </a:r>
          </a:p>
          <a:p>
            <a:pPr>
              <a:buNone/>
            </a:pPr>
            <a:r>
              <a:rPr lang="en-ZA" b="1" dirty="0"/>
              <a:t>Target Variable:</a:t>
            </a:r>
            <a:endParaRPr lang="en-ZA" dirty="0"/>
          </a:p>
          <a:p>
            <a:pPr marL="285750" indent="-285750">
              <a:buFont typeface="Arial" panose="020B0604020202020204" pitchFamily="34" charset="0"/>
              <a:buChar char="•"/>
            </a:pPr>
            <a:r>
              <a:rPr lang="en-ZA" b="1" dirty="0">
                <a:solidFill>
                  <a:srgbClr val="FF0000"/>
                </a:solidFill>
              </a:rPr>
              <a:t>Cholera Cases per 100,000 people</a:t>
            </a:r>
          </a:p>
          <a:p>
            <a:pPr marL="285750" indent="-285750">
              <a:buFont typeface="Arial" panose="020B0604020202020204" pitchFamily="34" charset="0"/>
              <a:buChar char="•"/>
            </a:pPr>
            <a:endParaRPr lang="en-ZA" dirty="0">
              <a:solidFill>
                <a:srgbClr val="FF0000"/>
              </a:solidFill>
            </a:endParaRPr>
          </a:p>
          <a:p>
            <a:pPr>
              <a:buNone/>
            </a:pPr>
            <a:r>
              <a:rPr lang="en-ZA" b="1" dirty="0"/>
              <a:t>Predictor Variables:</a:t>
            </a:r>
            <a:endParaRPr lang="en-ZA" dirty="0"/>
          </a:p>
          <a:p>
            <a:pPr marL="285750" indent="-285750">
              <a:buFont typeface="Arial" panose="020B0604020202020204" pitchFamily="34" charset="0"/>
              <a:buChar char="•"/>
            </a:pPr>
            <a:r>
              <a:rPr lang="en-ZA" b="1" dirty="0"/>
              <a:t>Environmental:</a:t>
            </a:r>
            <a:endParaRPr lang="en-ZA" dirty="0"/>
          </a:p>
          <a:p>
            <a:pPr marL="742950" lvl="1" indent="-285750">
              <a:buFont typeface="Arial" panose="020B0604020202020204" pitchFamily="34" charset="0"/>
              <a:buChar char="•"/>
            </a:pPr>
            <a:r>
              <a:rPr lang="en-ZA" dirty="0"/>
              <a:t>Rainfall frequency</a:t>
            </a:r>
          </a:p>
          <a:p>
            <a:pPr marL="742950" lvl="1" indent="-285750">
              <a:buFont typeface="Arial" panose="020B0604020202020204" pitchFamily="34" charset="0"/>
              <a:buChar char="•"/>
            </a:pPr>
            <a:r>
              <a:rPr lang="en-ZA" dirty="0"/>
              <a:t>Water source type</a:t>
            </a:r>
          </a:p>
          <a:p>
            <a:pPr marL="742950" lvl="1" indent="-285750">
              <a:buFont typeface="Arial" panose="020B0604020202020204" pitchFamily="34" charset="0"/>
              <a:buChar char="•"/>
            </a:pPr>
            <a:r>
              <a:rPr lang="en-ZA" dirty="0"/>
              <a:t>Contaminant levels</a:t>
            </a:r>
          </a:p>
          <a:p>
            <a:pPr marL="742950" lvl="1" indent="-285750">
              <a:buFont typeface="Arial" panose="020B0604020202020204" pitchFamily="34" charset="0"/>
              <a:buChar char="•"/>
            </a:pPr>
            <a:r>
              <a:rPr lang="en-ZA" dirty="0"/>
              <a:t>pH, turbidity, dissolved oxygen</a:t>
            </a:r>
          </a:p>
          <a:p>
            <a:pPr marL="742950" lvl="1" indent="-285750">
              <a:buFont typeface="Arial" panose="020B0604020202020204" pitchFamily="34" charset="0"/>
              <a:buChar char="•"/>
            </a:pPr>
            <a:r>
              <a:rPr lang="en-ZA" dirty="0"/>
              <a:t>Nitrate and lead concentrations</a:t>
            </a:r>
          </a:p>
          <a:p>
            <a:pPr marL="742950" lvl="1" indent="-285750">
              <a:buFont typeface="Arial" panose="020B0604020202020204" pitchFamily="34" charset="0"/>
              <a:buChar char="•"/>
            </a:pPr>
            <a:r>
              <a:rPr lang="en-ZA" dirty="0"/>
              <a:t>Bacterial counts</a:t>
            </a:r>
          </a:p>
          <a:p>
            <a:pPr marL="742950" lvl="1" indent="-285750">
              <a:buFont typeface="Arial" panose="020B0604020202020204" pitchFamily="34" charset="0"/>
              <a:buChar char="•"/>
            </a:pPr>
            <a:endParaRPr lang="en-ZA" dirty="0"/>
          </a:p>
          <a:p>
            <a:pPr marL="285750" indent="-285750">
              <a:buFont typeface="Arial" panose="020B0604020202020204" pitchFamily="34" charset="0"/>
              <a:buChar char="•"/>
            </a:pPr>
            <a:r>
              <a:rPr lang="en-ZA" b="1" dirty="0"/>
              <a:t>Socio-economic:</a:t>
            </a:r>
            <a:endParaRPr lang="en-ZA" dirty="0"/>
          </a:p>
          <a:p>
            <a:pPr marL="742950" lvl="1" indent="-285750">
              <a:buFont typeface="Arial" panose="020B0604020202020204" pitchFamily="34" charset="0"/>
              <a:buChar char="•"/>
            </a:pPr>
            <a:r>
              <a:rPr lang="en-ZA" dirty="0"/>
              <a:t>Sanitation access</a:t>
            </a:r>
          </a:p>
          <a:p>
            <a:pPr marL="742950" lvl="1" indent="-285750">
              <a:buFont typeface="Arial" panose="020B0604020202020204" pitchFamily="34" charset="0"/>
              <a:buChar char="•"/>
            </a:pPr>
            <a:r>
              <a:rPr lang="en-ZA" dirty="0"/>
              <a:t>Open defecation rates</a:t>
            </a:r>
          </a:p>
          <a:p>
            <a:pPr marL="742950" lvl="1" indent="-285750">
              <a:buFont typeface="Arial" panose="020B0604020202020204" pitchFamily="34" charset="0"/>
              <a:buChar char="•"/>
            </a:pPr>
            <a:r>
              <a:rPr lang="en-ZA" dirty="0"/>
              <a:t>Education levels</a:t>
            </a:r>
          </a:p>
          <a:p>
            <a:pPr marL="742950" lvl="1" indent="-285750">
              <a:buFont typeface="Arial" panose="020B0604020202020204" pitchFamily="34" charset="0"/>
              <a:buChar char="•"/>
            </a:pPr>
            <a:r>
              <a:rPr lang="en-ZA" dirty="0"/>
              <a:t>Population density</a:t>
            </a:r>
          </a:p>
          <a:p>
            <a:pPr marL="742950" lvl="1" indent="-285750">
              <a:buFont typeface="Arial" panose="020B0604020202020204" pitchFamily="34" charset="0"/>
              <a:buChar char="•"/>
            </a:pPr>
            <a:r>
              <a:rPr lang="en-ZA" dirty="0"/>
              <a:t>Infrastructure-related variables</a:t>
            </a:r>
          </a:p>
        </p:txBody>
      </p:sp>
      <p:pic>
        <p:nvPicPr>
          <p:cNvPr id="3" name="Picture 4" descr="Home | UWC">
            <a:extLst>
              <a:ext uri="{FF2B5EF4-FFF2-40B4-BE49-F238E27FC236}">
                <a16:creationId xmlns:a16="http://schemas.microsoft.com/office/drawing/2014/main" id="{89CD1269-7B0D-EDDE-A100-67E0EE9BBA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87357" y="5794161"/>
            <a:ext cx="698714" cy="698714"/>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Stellenbosch University (SU)">
            <a:extLst>
              <a:ext uri="{FF2B5EF4-FFF2-40B4-BE49-F238E27FC236}">
                <a16:creationId xmlns:a16="http://schemas.microsoft.com/office/drawing/2014/main" id="{055D4640-6678-206B-B620-BCC6386680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74817" y="5867997"/>
            <a:ext cx="1414904" cy="5675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854849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F1CB2D-5676-0772-DDBF-276B450EEB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4D0555-01EB-28C2-25C8-9A4A8AFE61FE}"/>
              </a:ext>
            </a:extLst>
          </p:cNvPr>
          <p:cNvSpPr>
            <a:spLocks noGrp="1"/>
          </p:cNvSpPr>
          <p:nvPr>
            <p:ph type="title"/>
          </p:nvPr>
        </p:nvSpPr>
        <p:spPr>
          <a:xfrm>
            <a:off x="838200" y="365126"/>
            <a:ext cx="9003890" cy="677094"/>
          </a:xfrm>
        </p:spPr>
        <p:txBody>
          <a:bodyPr>
            <a:normAutofit/>
          </a:bodyPr>
          <a:lstStyle/>
          <a:p>
            <a:r>
              <a:rPr lang="en-ZA" sz="3600" dirty="0"/>
              <a:t>Dataset Pre-processing</a:t>
            </a:r>
          </a:p>
        </p:txBody>
      </p:sp>
      <p:sp>
        <p:nvSpPr>
          <p:cNvPr id="5" name="TextBox 4">
            <a:extLst>
              <a:ext uri="{FF2B5EF4-FFF2-40B4-BE49-F238E27FC236}">
                <a16:creationId xmlns:a16="http://schemas.microsoft.com/office/drawing/2014/main" id="{231E8A19-0749-9566-D2E6-E58068DE151F}"/>
              </a:ext>
            </a:extLst>
          </p:cNvPr>
          <p:cNvSpPr txBox="1"/>
          <p:nvPr/>
        </p:nvSpPr>
        <p:spPr>
          <a:xfrm>
            <a:off x="1120877" y="1602658"/>
            <a:ext cx="7757652" cy="4524315"/>
          </a:xfrm>
          <a:prstGeom prst="rect">
            <a:avLst/>
          </a:prstGeom>
          <a:noFill/>
        </p:spPr>
        <p:txBody>
          <a:bodyPr wrap="square" rtlCol="0">
            <a:spAutoFit/>
          </a:bodyPr>
          <a:lstStyle/>
          <a:p>
            <a:pPr marL="285750" indent="-285750">
              <a:buFont typeface="Arial" panose="020B0604020202020204" pitchFamily="34" charset="0"/>
              <a:buChar char="•"/>
            </a:pPr>
            <a:r>
              <a:rPr lang="en-ZA" b="1" dirty="0"/>
              <a:t>Target Variable Validation:</a:t>
            </a:r>
          </a:p>
          <a:p>
            <a:pPr marL="742950" lvl="1" indent="-285750">
              <a:buFont typeface="Arial" panose="020B0604020202020204" pitchFamily="34" charset="0"/>
              <a:buChar char="•"/>
            </a:pPr>
            <a:r>
              <a:rPr lang="en-ZA" dirty="0"/>
              <a:t>Confirmed the presence of Cholera Cases per 100,000 people before transformation.</a:t>
            </a:r>
          </a:p>
          <a:p>
            <a:pPr marL="285750" indent="-285750">
              <a:buFont typeface="Arial" panose="020B0604020202020204" pitchFamily="34" charset="0"/>
              <a:buChar char="•"/>
            </a:pPr>
            <a:r>
              <a:rPr lang="en-ZA" b="1" dirty="0"/>
              <a:t>Feature Categorisation:</a:t>
            </a:r>
          </a:p>
          <a:p>
            <a:pPr marL="742950" lvl="1" indent="-285750">
              <a:buFont typeface="Arial" panose="020B0604020202020204" pitchFamily="34" charset="0"/>
              <a:buChar char="•"/>
            </a:pPr>
            <a:r>
              <a:rPr lang="en-ZA" dirty="0"/>
              <a:t>Separated numerical and categorical features.</a:t>
            </a:r>
          </a:p>
          <a:p>
            <a:pPr marL="742950" lvl="1" indent="-285750">
              <a:buFont typeface="Arial" panose="020B0604020202020204" pitchFamily="34" charset="0"/>
              <a:buChar char="•"/>
            </a:pPr>
            <a:r>
              <a:rPr lang="en-ZA" dirty="0"/>
              <a:t>Target variable excluded from all preprocessing steps.</a:t>
            </a:r>
          </a:p>
          <a:p>
            <a:pPr marL="285750" indent="-285750">
              <a:buFont typeface="Arial" panose="020B0604020202020204" pitchFamily="34" charset="0"/>
              <a:buChar char="•"/>
            </a:pPr>
            <a:r>
              <a:rPr lang="en-ZA" b="1" dirty="0"/>
              <a:t>Skewness Handling:</a:t>
            </a:r>
          </a:p>
          <a:p>
            <a:pPr marL="742950" lvl="1" indent="-285750">
              <a:buFont typeface="Arial" panose="020B0604020202020204" pitchFamily="34" charset="0"/>
              <a:buChar char="•"/>
            </a:pPr>
            <a:r>
              <a:rPr lang="en-ZA" dirty="0"/>
              <a:t>Calculated skewness coefficients for numerical features.</a:t>
            </a:r>
          </a:p>
          <a:p>
            <a:pPr marL="742950" lvl="1" indent="-285750">
              <a:buFont typeface="Arial" panose="020B0604020202020204" pitchFamily="34" charset="0"/>
              <a:buChar char="•"/>
            </a:pPr>
            <a:r>
              <a:rPr lang="en-ZA" dirty="0"/>
              <a:t>Applied log1p transformation to variables with skew &gt; 1 to reduce outlier impact and stabilise feature distributions.</a:t>
            </a:r>
          </a:p>
          <a:p>
            <a:pPr marL="285750" indent="-285750">
              <a:buFont typeface="Arial" panose="020B0604020202020204" pitchFamily="34" charset="0"/>
              <a:buChar char="•"/>
            </a:pPr>
            <a:r>
              <a:rPr lang="en-ZA" b="1" dirty="0"/>
              <a:t>Normalisation:</a:t>
            </a:r>
          </a:p>
          <a:p>
            <a:pPr marL="742950" lvl="1" indent="-285750">
              <a:buFont typeface="Arial" panose="020B0604020202020204" pitchFamily="34" charset="0"/>
              <a:buChar char="•"/>
            </a:pPr>
            <a:r>
              <a:rPr lang="en-ZA" dirty="0"/>
              <a:t>Standardised numerical features using z-score normalisation for consistent scaling across all variables.</a:t>
            </a:r>
          </a:p>
          <a:p>
            <a:pPr marL="285750" indent="-285750">
              <a:buFont typeface="Arial" panose="020B0604020202020204" pitchFamily="34" charset="0"/>
              <a:buChar char="•"/>
            </a:pPr>
            <a:r>
              <a:rPr lang="en-ZA" b="1" dirty="0"/>
              <a:t>Categorical Encoding:</a:t>
            </a:r>
          </a:p>
          <a:p>
            <a:pPr marL="742950" lvl="1" indent="-285750">
              <a:buFont typeface="Arial" panose="020B0604020202020204" pitchFamily="34" charset="0"/>
              <a:buChar char="•"/>
            </a:pPr>
            <a:r>
              <a:rPr lang="en-ZA" dirty="0"/>
              <a:t>Used one-hot encoding with the first category dropped to avoid multicollinearity.</a:t>
            </a:r>
          </a:p>
        </p:txBody>
      </p:sp>
      <p:pic>
        <p:nvPicPr>
          <p:cNvPr id="6" name="Picture 4" descr="Home | UWC">
            <a:extLst>
              <a:ext uri="{FF2B5EF4-FFF2-40B4-BE49-F238E27FC236}">
                <a16:creationId xmlns:a16="http://schemas.microsoft.com/office/drawing/2014/main" id="{6674ABD0-0DFB-1732-D4CC-4A9CE28ED20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26885" y="5851478"/>
            <a:ext cx="698714" cy="698714"/>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Stellenbosch University (SU)">
            <a:extLst>
              <a:ext uri="{FF2B5EF4-FFF2-40B4-BE49-F238E27FC236}">
                <a16:creationId xmlns:a16="http://schemas.microsoft.com/office/drawing/2014/main" id="{8DE00F1B-3951-317C-9DD7-1FEFF3BD0F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14345" y="5925314"/>
            <a:ext cx="1414904" cy="5675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264608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72A285-2456-B093-2961-CE44E3F557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F9CC62-6706-BAC7-EE33-E33C46983711}"/>
              </a:ext>
            </a:extLst>
          </p:cNvPr>
          <p:cNvSpPr>
            <a:spLocks noGrp="1"/>
          </p:cNvSpPr>
          <p:nvPr>
            <p:ph type="title"/>
          </p:nvPr>
        </p:nvSpPr>
        <p:spPr>
          <a:xfrm>
            <a:off x="838200" y="0"/>
            <a:ext cx="10515600" cy="1325563"/>
          </a:xfrm>
        </p:spPr>
        <p:txBody>
          <a:bodyPr>
            <a:normAutofit/>
          </a:bodyPr>
          <a:lstStyle/>
          <a:p>
            <a:r>
              <a:rPr lang="en-ZA" sz="4000" dirty="0"/>
              <a:t>Methodology – Knowledge base</a:t>
            </a:r>
          </a:p>
        </p:txBody>
      </p:sp>
      <p:pic>
        <p:nvPicPr>
          <p:cNvPr id="5" name="Picture 4">
            <a:extLst>
              <a:ext uri="{FF2B5EF4-FFF2-40B4-BE49-F238E27FC236}">
                <a16:creationId xmlns:a16="http://schemas.microsoft.com/office/drawing/2014/main" id="{5B577558-DB17-85D7-F96B-11E54ED14D1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428359" y="1274488"/>
            <a:ext cx="6225858" cy="5218387"/>
          </a:xfrm>
          <a:prstGeom prst="rect">
            <a:avLst/>
          </a:prstGeom>
        </p:spPr>
      </p:pic>
      <p:pic>
        <p:nvPicPr>
          <p:cNvPr id="6" name="Picture 4" descr="Home | UWC">
            <a:extLst>
              <a:ext uri="{FF2B5EF4-FFF2-40B4-BE49-F238E27FC236}">
                <a16:creationId xmlns:a16="http://schemas.microsoft.com/office/drawing/2014/main" id="{88C37834-4A0F-B744-26A2-E28CAED4AC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69133" y="5948165"/>
            <a:ext cx="698714" cy="698714"/>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Stellenbosch University (SU)">
            <a:extLst>
              <a:ext uri="{FF2B5EF4-FFF2-40B4-BE49-F238E27FC236}">
                <a16:creationId xmlns:a16="http://schemas.microsoft.com/office/drawing/2014/main" id="{045CEF82-0AB9-5C80-98B0-EECB37DEE98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56593" y="6022001"/>
            <a:ext cx="1414904" cy="5675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24472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0474D8-1497-235D-86EB-A6A26A82F1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3197D3-256A-CAB2-0A6D-06A8AE43BAFA}"/>
              </a:ext>
            </a:extLst>
          </p:cNvPr>
          <p:cNvSpPr>
            <a:spLocks noGrp="1"/>
          </p:cNvSpPr>
          <p:nvPr>
            <p:ph type="title"/>
          </p:nvPr>
        </p:nvSpPr>
        <p:spPr>
          <a:xfrm>
            <a:off x="838200" y="0"/>
            <a:ext cx="10515600" cy="1325563"/>
          </a:xfrm>
        </p:spPr>
        <p:txBody>
          <a:bodyPr>
            <a:normAutofit/>
          </a:bodyPr>
          <a:lstStyle/>
          <a:p>
            <a:r>
              <a:rPr lang="en-ZA" sz="4000" dirty="0"/>
              <a:t>Methodology – LLM Framework</a:t>
            </a:r>
          </a:p>
        </p:txBody>
      </p:sp>
      <p:pic>
        <p:nvPicPr>
          <p:cNvPr id="5" name="Picture 4">
            <a:extLst>
              <a:ext uri="{FF2B5EF4-FFF2-40B4-BE49-F238E27FC236}">
                <a16:creationId xmlns:a16="http://schemas.microsoft.com/office/drawing/2014/main" id="{48058B42-EF31-4283-4F3E-62DBC9AB73F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78720" y="1325564"/>
            <a:ext cx="10494079" cy="5302662"/>
          </a:xfrm>
          <a:prstGeom prst="rect">
            <a:avLst/>
          </a:prstGeom>
        </p:spPr>
      </p:pic>
      <p:pic>
        <p:nvPicPr>
          <p:cNvPr id="3" name="Picture 4" descr="Home | UWC">
            <a:extLst>
              <a:ext uri="{FF2B5EF4-FFF2-40B4-BE49-F238E27FC236}">
                <a16:creationId xmlns:a16="http://schemas.microsoft.com/office/drawing/2014/main" id="{9C2E3AE8-40EB-8F6B-5A2D-0DD0240C92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719" y="5986830"/>
            <a:ext cx="698714" cy="698714"/>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descr="Stellenbosch University (SU)">
            <a:extLst>
              <a:ext uri="{FF2B5EF4-FFF2-40B4-BE49-F238E27FC236}">
                <a16:creationId xmlns:a16="http://schemas.microsoft.com/office/drawing/2014/main" id="{FEFCC6F4-B6F2-53D9-811B-5A7712E8AF5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85179" y="6060666"/>
            <a:ext cx="1414904" cy="5675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996934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BA16D8-8788-76AB-6376-94A3C02031FF}"/>
              </a:ext>
            </a:extLst>
          </p:cNvPr>
          <p:cNvSpPr>
            <a:spLocks noGrp="1"/>
          </p:cNvSpPr>
          <p:nvPr>
            <p:ph type="title"/>
          </p:nvPr>
        </p:nvSpPr>
        <p:spPr>
          <a:xfrm>
            <a:off x="779207" y="119319"/>
            <a:ext cx="7352071" cy="667262"/>
          </a:xfrm>
        </p:spPr>
        <p:txBody>
          <a:bodyPr>
            <a:normAutofit/>
          </a:bodyPr>
          <a:lstStyle/>
          <a:p>
            <a:r>
              <a:rPr lang="en-ZA" sz="3200" dirty="0" err="1"/>
              <a:t>Langchain</a:t>
            </a:r>
            <a:r>
              <a:rPr lang="en-ZA" sz="3200" dirty="0"/>
              <a:t> + </a:t>
            </a:r>
            <a:r>
              <a:rPr lang="en-ZA" sz="3200" dirty="0" err="1"/>
              <a:t>Langraph</a:t>
            </a:r>
            <a:r>
              <a:rPr lang="en-ZA" sz="3200" dirty="0"/>
              <a:t> Integration</a:t>
            </a:r>
          </a:p>
        </p:txBody>
      </p:sp>
      <p:sp>
        <p:nvSpPr>
          <p:cNvPr id="6" name="TextBox 5">
            <a:extLst>
              <a:ext uri="{FF2B5EF4-FFF2-40B4-BE49-F238E27FC236}">
                <a16:creationId xmlns:a16="http://schemas.microsoft.com/office/drawing/2014/main" id="{84650B82-59F1-EFD2-2ECD-68E12F0FB7D6}"/>
              </a:ext>
            </a:extLst>
          </p:cNvPr>
          <p:cNvSpPr txBox="1"/>
          <p:nvPr/>
        </p:nvSpPr>
        <p:spPr>
          <a:xfrm>
            <a:off x="639097" y="829371"/>
            <a:ext cx="11336594" cy="5909310"/>
          </a:xfrm>
          <a:prstGeom prst="rect">
            <a:avLst/>
          </a:prstGeom>
          <a:noFill/>
        </p:spPr>
        <p:txBody>
          <a:bodyPr wrap="square">
            <a:spAutoFit/>
          </a:bodyPr>
          <a:lstStyle/>
          <a:p>
            <a:pPr marL="285750" indent="-285750">
              <a:buFont typeface="Arial" panose="020B0604020202020204" pitchFamily="34" charset="0"/>
              <a:buChar char="•"/>
            </a:pPr>
            <a:r>
              <a:rPr lang="en-GB" b="1" dirty="0"/>
              <a:t>Framework Structure:</a:t>
            </a:r>
          </a:p>
          <a:p>
            <a:pPr marL="742950" lvl="1" indent="-285750">
              <a:buFont typeface="Arial" panose="020B0604020202020204" pitchFamily="34" charset="0"/>
              <a:buChar char="•"/>
            </a:pPr>
            <a:r>
              <a:rPr lang="en-GB" dirty="0"/>
              <a:t>Built using </a:t>
            </a:r>
            <a:r>
              <a:rPr lang="en-GB" dirty="0" err="1"/>
              <a:t>LangChain’s</a:t>
            </a:r>
            <a:r>
              <a:rPr lang="en-GB" dirty="0"/>
              <a:t> </a:t>
            </a:r>
            <a:r>
              <a:rPr lang="en-GB" dirty="0" err="1"/>
              <a:t>LangGraph</a:t>
            </a:r>
            <a:r>
              <a:rPr lang="en-GB" dirty="0"/>
              <a:t> to enable stateful, multi-step reasoning through a directed graph.</a:t>
            </a:r>
          </a:p>
          <a:p>
            <a:pPr marL="742950" lvl="1" indent="-285750">
              <a:buFont typeface="Arial" panose="020B0604020202020204" pitchFamily="34" charset="0"/>
              <a:buChar char="•"/>
            </a:pPr>
            <a:r>
              <a:rPr lang="en-GB" dirty="0"/>
              <a:t>Implemented as a minimal </a:t>
            </a:r>
            <a:r>
              <a:rPr lang="en-GB" dirty="0" err="1"/>
              <a:t>LangGraph</a:t>
            </a:r>
            <a:r>
              <a:rPr lang="en-GB" dirty="0"/>
              <a:t> with a single question-answering node supported by structured memory.</a:t>
            </a:r>
          </a:p>
          <a:p>
            <a:pPr marL="285750" indent="-285750">
              <a:buFont typeface="Arial" panose="020B0604020202020204" pitchFamily="34" charset="0"/>
              <a:buChar char="•"/>
            </a:pPr>
            <a:r>
              <a:rPr lang="en-GB" b="1" dirty="0"/>
              <a:t>Data-Grounded Reasoning:</a:t>
            </a:r>
          </a:p>
          <a:p>
            <a:pPr marL="742950" lvl="1" indent="-285750">
              <a:buFont typeface="Arial" panose="020B0604020202020204" pitchFamily="34" charset="0"/>
              <a:buChar char="•"/>
            </a:pPr>
            <a:r>
              <a:rPr lang="en-GB" dirty="0"/>
              <a:t>The agent loads outputs from ML and statistical analyses (correlations, coefficients, importance rankings).</a:t>
            </a:r>
          </a:p>
          <a:p>
            <a:pPr marL="742950" lvl="1" indent="-285750">
              <a:buFont typeface="Arial" panose="020B0604020202020204" pitchFamily="34" charset="0"/>
              <a:buChar char="•"/>
            </a:pPr>
            <a:r>
              <a:rPr lang="en-GB" dirty="0"/>
              <a:t>Each CSV is formatted and injected into a custom prompt template to ensure evidence-based responses.</a:t>
            </a:r>
          </a:p>
          <a:p>
            <a:pPr marL="285750" indent="-285750">
              <a:buFont typeface="Arial" panose="020B0604020202020204" pitchFamily="34" charset="0"/>
              <a:buChar char="•"/>
            </a:pPr>
            <a:r>
              <a:rPr lang="en-GB" b="1" dirty="0"/>
              <a:t>Prompt Design:</a:t>
            </a:r>
          </a:p>
          <a:p>
            <a:pPr marL="742950" lvl="1" indent="-285750">
              <a:buFont typeface="Arial" panose="020B0604020202020204" pitchFamily="34" charset="0"/>
              <a:buChar char="•"/>
            </a:pPr>
            <a:r>
              <a:rPr lang="en-GB" dirty="0"/>
              <a:t>Delimited sections for:</a:t>
            </a:r>
          </a:p>
          <a:p>
            <a:pPr marL="1200150" lvl="2" indent="-285750">
              <a:buFont typeface="Arial" panose="020B0604020202020204" pitchFamily="34" charset="0"/>
              <a:buChar char="•"/>
            </a:pPr>
            <a:r>
              <a:rPr lang="en-GB" dirty="0"/>
              <a:t>Correlation matrices</a:t>
            </a:r>
          </a:p>
          <a:p>
            <a:pPr marL="1200150" lvl="2" indent="-285750">
              <a:buFont typeface="Arial" panose="020B0604020202020204" pitchFamily="34" charset="0"/>
              <a:buChar char="•"/>
            </a:pPr>
            <a:r>
              <a:rPr lang="en-GB" dirty="0"/>
              <a:t>Regression coefficients</a:t>
            </a:r>
          </a:p>
          <a:p>
            <a:pPr marL="1200150" lvl="2" indent="-285750">
              <a:buFont typeface="Arial" panose="020B0604020202020204" pitchFamily="34" charset="0"/>
              <a:buChar char="•"/>
            </a:pPr>
            <a:r>
              <a:rPr lang="en-GB" dirty="0"/>
              <a:t>Feature importance rankings</a:t>
            </a:r>
          </a:p>
          <a:p>
            <a:pPr marL="742950" lvl="1" indent="-285750">
              <a:buFont typeface="Arial" panose="020B0604020202020204" pitchFamily="34" charset="0"/>
              <a:buChar char="•"/>
            </a:pPr>
            <a:r>
              <a:rPr lang="en-GB" dirty="0"/>
              <a:t>Enables precise, context-aware answer generation.</a:t>
            </a:r>
          </a:p>
          <a:p>
            <a:pPr marL="285750" indent="-285750">
              <a:buFont typeface="Arial" panose="020B0604020202020204" pitchFamily="34" charset="0"/>
              <a:buChar char="•"/>
            </a:pPr>
            <a:r>
              <a:rPr lang="en-GB" b="1" dirty="0"/>
              <a:t>Execution Logic:</a:t>
            </a:r>
          </a:p>
          <a:p>
            <a:pPr marL="742950" lvl="1" indent="-285750">
              <a:buFont typeface="Arial" panose="020B0604020202020204" pitchFamily="34" charset="0"/>
              <a:buChar char="•"/>
            </a:pPr>
            <a:r>
              <a:rPr lang="en-GB" dirty="0"/>
              <a:t>Load and format the required CSV files</a:t>
            </a:r>
          </a:p>
          <a:p>
            <a:pPr marL="742950" lvl="1" indent="-285750">
              <a:buFont typeface="Arial" panose="020B0604020202020204" pitchFamily="34" charset="0"/>
              <a:buChar char="•"/>
            </a:pPr>
            <a:r>
              <a:rPr lang="en-GB" dirty="0"/>
              <a:t>Populate QA prompt with structured analytics</a:t>
            </a:r>
          </a:p>
          <a:p>
            <a:pPr marL="742950" lvl="1" indent="-285750">
              <a:buFont typeface="Arial" panose="020B0604020202020204" pitchFamily="34" charset="0"/>
              <a:buChar char="•"/>
            </a:pPr>
            <a:r>
              <a:rPr lang="en-GB" dirty="0"/>
              <a:t>Append user query and history</a:t>
            </a:r>
          </a:p>
          <a:p>
            <a:pPr marL="742950" lvl="1" indent="-285750">
              <a:buFont typeface="Arial" panose="020B0604020202020204" pitchFamily="34" charset="0"/>
              <a:buChar char="•"/>
            </a:pPr>
            <a:r>
              <a:rPr lang="en-GB" dirty="0"/>
              <a:t>Invoke Claude LLM for grounded response generation</a:t>
            </a:r>
          </a:p>
          <a:p>
            <a:pPr marL="285750" indent="-285750">
              <a:buFont typeface="Arial" panose="020B0604020202020204" pitchFamily="34" charset="0"/>
              <a:buChar char="•"/>
            </a:pPr>
            <a:r>
              <a:rPr lang="en-GB" b="1" dirty="0"/>
              <a:t>Conversation Memory: </a:t>
            </a:r>
          </a:p>
          <a:p>
            <a:pPr marL="742950" lvl="1" indent="-285750">
              <a:buFont typeface="Arial" panose="020B0604020202020204" pitchFamily="34" charset="0"/>
              <a:buChar char="•"/>
            </a:pPr>
            <a:r>
              <a:rPr lang="en-GB" dirty="0" err="1"/>
              <a:t>MemorySaver</a:t>
            </a:r>
            <a:r>
              <a:rPr lang="en-GB" dirty="0"/>
              <a:t> ensures multi-turn dialogues remain coherent, allowing the agent to track context across interactions.</a:t>
            </a:r>
            <a:endParaRPr lang="en-ZA" dirty="0"/>
          </a:p>
        </p:txBody>
      </p:sp>
    </p:spTree>
    <p:extLst>
      <p:ext uri="{BB962C8B-B14F-4D97-AF65-F5344CB8AC3E}">
        <p14:creationId xmlns:p14="http://schemas.microsoft.com/office/powerpoint/2010/main" val="23710625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FC1004-6022-57C0-79E7-F5C4E60205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CF53CE-28AD-0F0C-D64A-3AD30A667C84}"/>
              </a:ext>
            </a:extLst>
          </p:cNvPr>
          <p:cNvSpPr>
            <a:spLocks noGrp="1"/>
          </p:cNvSpPr>
          <p:nvPr>
            <p:ph type="title"/>
          </p:nvPr>
        </p:nvSpPr>
        <p:spPr>
          <a:xfrm>
            <a:off x="779207" y="119319"/>
            <a:ext cx="7352071" cy="667262"/>
          </a:xfrm>
        </p:spPr>
        <p:txBody>
          <a:bodyPr>
            <a:normAutofit/>
          </a:bodyPr>
          <a:lstStyle/>
          <a:p>
            <a:r>
              <a:rPr lang="en-ZA" sz="3200" b="1" dirty="0" err="1"/>
              <a:t>Streamlit</a:t>
            </a:r>
            <a:r>
              <a:rPr lang="en-ZA" sz="3200" b="1" dirty="0"/>
              <a:t> UI</a:t>
            </a:r>
          </a:p>
        </p:txBody>
      </p:sp>
      <p:sp>
        <p:nvSpPr>
          <p:cNvPr id="6" name="TextBox 5">
            <a:extLst>
              <a:ext uri="{FF2B5EF4-FFF2-40B4-BE49-F238E27FC236}">
                <a16:creationId xmlns:a16="http://schemas.microsoft.com/office/drawing/2014/main" id="{6D5099DB-D6E6-3FFD-6A2C-4B6921236988}"/>
              </a:ext>
            </a:extLst>
          </p:cNvPr>
          <p:cNvSpPr txBox="1"/>
          <p:nvPr/>
        </p:nvSpPr>
        <p:spPr>
          <a:xfrm>
            <a:off x="668594" y="1527461"/>
            <a:ext cx="11336594" cy="3416320"/>
          </a:xfrm>
          <a:prstGeom prst="rect">
            <a:avLst/>
          </a:prstGeom>
          <a:noFill/>
        </p:spPr>
        <p:txBody>
          <a:bodyPr wrap="square">
            <a:spAutoFit/>
          </a:bodyPr>
          <a:lstStyle/>
          <a:p>
            <a:pPr marL="285750" indent="-285750">
              <a:buFont typeface="Arial" panose="020B0604020202020204" pitchFamily="34" charset="0"/>
              <a:buChar char="•"/>
            </a:pPr>
            <a:r>
              <a:rPr lang="en-GB" b="1" dirty="0"/>
              <a:t>Lightweight Web Interface:</a:t>
            </a:r>
          </a:p>
          <a:p>
            <a:pPr marL="742950" lvl="1" indent="-285750">
              <a:buFont typeface="Arial" panose="020B0604020202020204" pitchFamily="34" charset="0"/>
              <a:buChar char="•"/>
            </a:pPr>
            <a:r>
              <a:rPr lang="en-GB" dirty="0"/>
              <a:t>Built using </a:t>
            </a:r>
            <a:r>
              <a:rPr lang="en-GB" b="1" dirty="0" err="1"/>
              <a:t>Streamlit</a:t>
            </a:r>
            <a:r>
              <a:rPr lang="en-GB" dirty="0"/>
              <a:t> to make the framework accessible to non-technical users.</a:t>
            </a:r>
          </a:p>
          <a:p>
            <a:pPr marL="285750" indent="-285750">
              <a:buFont typeface="Arial" panose="020B0604020202020204" pitchFamily="34" charset="0"/>
              <a:buChar char="•"/>
            </a:pPr>
            <a:r>
              <a:rPr lang="en-GB" b="1" dirty="0"/>
              <a:t>Key Features:</a:t>
            </a:r>
          </a:p>
          <a:p>
            <a:pPr marL="742950" lvl="1" indent="-285750">
              <a:buFont typeface="Arial" panose="020B0604020202020204" pitchFamily="34" charset="0"/>
              <a:buChar char="•"/>
            </a:pPr>
            <a:r>
              <a:rPr lang="en-GB" b="1" dirty="0"/>
              <a:t>Chatbot-style layout </a:t>
            </a:r>
            <a:r>
              <a:rPr lang="en-GB" dirty="0"/>
              <a:t>with persistent conversation history</a:t>
            </a:r>
          </a:p>
          <a:p>
            <a:pPr marL="742950" lvl="1" indent="-285750">
              <a:buFont typeface="Arial" panose="020B0604020202020204" pitchFamily="34" charset="0"/>
              <a:buChar char="•"/>
            </a:pPr>
            <a:r>
              <a:rPr lang="en-GB" dirty="0"/>
              <a:t>Free-form input box for user queries</a:t>
            </a:r>
          </a:p>
          <a:p>
            <a:pPr marL="1200150" lvl="2" indent="-285750">
              <a:buFont typeface="Arial" panose="020B0604020202020204" pitchFamily="34" charset="0"/>
              <a:buChar char="•"/>
            </a:pPr>
            <a:r>
              <a:rPr lang="en-GB" dirty="0"/>
              <a:t>e.g., “What are the most important features for predicting Cholera?”</a:t>
            </a:r>
          </a:p>
          <a:p>
            <a:pPr marL="742950" lvl="1" indent="-285750">
              <a:buFont typeface="Arial" panose="020B0604020202020204" pitchFamily="34" charset="0"/>
              <a:buChar char="•"/>
            </a:pPr>
            <a:r>
              <a:rPr lang="en-GB" dirty="0"/>
              <a:t>Dynamic loading spinner for real-time response feedback</a:t>
            </a:r>
          </a:p>
          <a:p>
            <a:pPr marL="285750" indent="-285750">
              <a:buFont typeface="Arial" panose="020B0604020202020204" pitchFamily="34" charset="0"/>
              <a:buChar char="•"/>
            </a:pPr>
            <a:r>
              <a:rPr lang="en-GB" b="1" dirty="0"/>
              <a:t>Interaction Flow:</a:t>
            </a:r>
          </a:p>
          <a:p>
            <a:pPr marL="800100" lvl="1" indent="-342900">
              <a:buFont typeface="+mj-lt"/>
              <a:buAutoNum type="arabicPeriod"/>
            </a:pPr>
            <a:r>
              <a:rPr lang="en-GB" dirty="0"/>
              <a:t>User enters a question</a:t>
            </a:r>
          </a:p>
          <a:p>
            <a:pPr marL="800100" lvl="1" indent="-342900">
              <a:buFont typeface="+mj-lt"/>
              <a:buAutoNum type="arabicPeriod"/>
            </a:pPr>
            <a:r>
              <a:rPr lang="en-GB" dirty="0"/>
              <a:t>Message is added to the conversation state</a:t>
            </a:r>
          </a:p>
          <a:p>
            <a:pPr marL="800100" lvl="1" indent="-342900">
              <a:buFont typeface="+mj-lt"/>
              <a:buAutoNum type="arabicPeriod"/>
            </a:pPr>
            <a:r>
              <a:rPr lang="en-GB" dirty="0"/>
              <a:t>Query is sent to the </a:t>
            </a:r>
            <a:r>
              <a:rPr lang="en-GB" b="1" dirty="0" err="1"/>
              <a:t>LangGraph</a:t>
            </a:r>
            <a:r>
              <a:rPr lang="en-GB" b="1" dirty="0"/>
              <a:t> agent</a:t>
            </a:r>
          </a:p>
          <a:p>
            <a:pPr marL="800100" lvl="1" indent="-342900">
              <a:buFont typeface="+mj-lt"/>
              <a:buAutoNum type="arabicPeriod"/>
            </a:pPr>
            <a:r>
              <a:rPr lang="en-GB" dirty="0"/>
              <a:t>The LLM response is appended and displayed in the chat interface</a:t>
            </a:r>
            <a:endParaRPr lang="en-ZA" dirty="0"/>
          </a:p>
        </p:txBody>
      </p:sp>
      <p:pic>
        <p:nvPicPr>
          <p:cNvPr id="3" name="Picture 4" descr="Home | UWC">
            <a:extLst>
              <a:ext uri="{FF2B5EF4-FFF2-40B4-BE49-F238E27FC236}">
                <a16:creationId xmlns:a16="http://schemas.microsoft.com/office/drawing/2014/main" id="{45692A07-4A3D-D404-D853-C9553E6DB0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21521" y="5755660"/>
            <a:ext cx="698714" cy="698714"/>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descr="Stellenbosch University (SU)">
            <a:extLst>
              <a:ext uri="{FF2B5EF4-FFF2-40B4-BE49-F238E27FC236}">
                <a16:creationId xmlns:a16="http://schemas.microsoft.com/office/drawing/2014/main" id="{8B3189DD-629F-4C62-4AD6-D6692B5212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08981" y="5829496"/>
            <a:ext cx="1414904" cy="5675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119260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4EC43B-F2C8-4A8E-B2D7-FAF80B0D071D}"/>
              </a:ext>
            </a:extLst>
          </p:cNvPr>
          <p:cNvSpPr>
            <a:spLocks noGrp="1"/>
          </p:cNvSpPr>
          <p:nvPr>
            <p:ph type="title"/>
          </p:nvPr>
        </p:nvSpPr>
        <p:spPr>
          <a:xfrm>
            <a:off x="838200" y="365125"/>
            <a:ext cx="8265160" cy="925195"/>
          </a:xfrm>
        </p:spPr>
        <p:txBody>
          <a:bodyPr>
            <a:normAutofit/>
          </a:bodyPr>
          <a:lstStyle/>
          <a:p>
            <a:r>
              <a:rPr lang="en-ZA" sz="3200" dirty="0"/>
              <a:t>Evaluation – Model Performance</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24EBE842-7C4C-673F-748D-6416BA4EAB24}"/>
                  </a:ext>
                </a:extLst>
              </p:cNvPr>
              <p:cNvSpPr txBox="1"/>
              <p:nvPr/>
            </p:nvSpPr>
            <p:spPr>
              <a:xfrm>
                <a:off x="1425677" y="2819877"/>
                <a:ext cx="10176388" cy="152920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ZA" sz="2400" b="1" i="1" smtClean="0">
                          <a:latin typeface="Cambria Math" panose="02040503050406030204" pitchFamily="18" charset="0"/>
                        </a:rPr>
                        <m:t>𝑴𝑨𝑬</m:t>
                      </m:r>
                      <m:r>
                        <a:rPr lang="en-ZA" sz="2400" b="0" i="0">
                          <a:latin typeface="Cambria Math" panose="02040503050406030204" pitchFamily="18" charset="0"/>
                        </a:rPr>
                        <m:t>= </m:t>
                      </m:r>
                      <m:f>
                        <m:fPr>
                          <m:ctrlPr>
                            <a:rPr lang="en-ZA" sz="2400" b="0" i="1">
                              <a:latin typeface="Cambria Math" panose="02040503050406030204" pitchFamily="18" charset="0"/>
                            </a:rPr>
                          </m:ctrlPr>
                        </m:fPr>
                        <m:num>
                          <m:r>
                            <a:rPr lang="en-ZA" sz="2400" b="0" i="0">
                              <a:latin typeface="Cambria Math" panose="02040503050406030204" pitchFamily="18" charset="0"/>
                            </a:rPr>
                            <m:t>1</m:t>
                          </m:r>
                        </m:num>
                        <m:den>
                          <m:r>
                            <a:rPr lang="en-ZA" sz="2400" b="0" i="1">
                              <a:latin typeface="Cambria Math" panose="02040503050406030204" pitchFamily="18" charset="0"/>
                            </a:rPr>
                            <m:t>𝑛</m:t>
                          </m:r>
                        </m:den>
                      </m:f>
                      <m:nary>
                        <m:naryPr>
                          <m:chr m:val="∑"/>
                          <m:limLoc m:val="undOvr"/>
                          <m:ctrlPr>
                            <a:rPr lang="en-ZA" sz="2400" b="0" i="1">
                              <a:latin typeface="Cambria Math" panose="02040503050406030204" pitchFamily="18" charset="0"/>
                            </a:rPr>
                          </m:ctrlPr>
                        </m:naryPr>
                        <m:sub>
                          <m:r>
                            <a:rPr lang="en-ZA" sz="2400" b="0" i="1">
                              <a:latin typeface="Cambria Math" panose="02040503050406030204" pitchFamily="18" charset="0"/>
                            </a:rPr>
                            <m:t>𝑖</m:t>
                          </m:r>
                          <m:r>
                            <a:rPr lang="en-ZA" sz="2400" b="0" i="0">
                              <a:latin typeface="Cambria Math" panose="02040503050406030204" pitchFamily="18" charset="0"/>
                            </a:rPr>
                            <m:t>=1</m:t>
                          </m:r>
                        </m:sub>
                        <m:sup>
                          <m:r>
                            <a:rPr lang="en-ZA" sz="2400" b="0" i="1">
                              <a:latin typeface="Cambria Math" panose="02040503050406030204" pitchFamily="18" charset="0"/>
                            </a:rPr>
                            <m:t>𝑛</m:t>
                          </m:r>
                        </m:sup>
                        <m:e>
                          <m:d>
                            <m:dPr>
                              <m:begChr m:val="|"/>
                              <m:endChr m:val="|"/>
                              <m:ctrlPr>
                                <a:rPr lang="en-ZA" sz="2400" b="0" i="1">
                                  <a:latin typeface="Cambria Math" panose="02040503050406030204" pitchFamily="18" charset="0"/>
                                </a:rPr>
                              </m:ctrlPr>
                            </m:dPr>
                            <m:e>
                              <m:sSub>
                                <m:sSubPr>
                                  <m:ctrlPr>
                                    <a:rPr lang="en-ZA" sz="2400" b="0" i="1">
                                      <a:latin typeface="Cambria Math" panose="02040503050406030204" pitchFamily="18" charset="0"/>
                                    </a:rPr>
                                  </m:ctrlPr>
                                </m:sSubPr>
                                <m:e>
                                  <m:r>
                                    <a:rPr lang="en-ZA" sz="2400" b="0" i="1">
                                      <a:latin typeface="Cambria Math" panose="02040503050406030204" pitchFamily="18" charset="0"/>
                                    </a:rPr>
                                    <m:t>𝑦</m:t>
                                  </m:r>
                                </m:e>
                                <m:sub>
                                  <m:r>
                                    <a:rPr lang="en-ZA" sz="2400" b="0" i="1">
                                      <a:latin typeface="Cambria Math" panose="02040503050406030204" pitchFamily="18" charset="0"/>
                                    </a:rPr>
                                    <m:t>𝑖</m:t>
                                  </m:r>
                                </m:sub>
                              </m:sSub>
                              <m:r>
                                <a:rPr lang="en-ZA" sz="2400" b="0" i="0">
                                  <a:latin typeface="Cambria Math" panose="02040503050406030204" pitchFamily="18" charset="0"/>
                                </a:rPr>
                                <m:t>−</m:t>
                              </m:r>
                              <m:sSub>
                                <m:sSubPr>
                                  <m:ctrlPr>
                                    <a:rPr lang="en-ZA" sz="2400" b="0" i="1">
                                      <a:latin typeface="Cambria Math" panose="02040503050406030204" pitchFamily="18" charset="0"/>
                                    </a:rPr>
                                  </m:ctrlPr>
                                </m:sSubPr>
                                <m:e>
                                  <m:acc>
                                    <m:accPr>
                                      <m:chr m:val="̂"/>
                                      <m:ctrlPr>
                                        <a:rPr lang="en-ZA" sz="2400" b="0" i="1">
                                          <a:latin typeface="Cambria Math" panose="02040503050406030204" pitchFamily="18" charset="0"/>
                                        </a:rPr>
                                      </m:ctrlPr>
                                    </m:accPr>
                                    <m:e>
                                      <m:r>
                                        <a:rPr lang="en-ZA" sz="2400" b="0" i="1">
                                          <a:latin typeface="Cambria Math" panose="02040503050406030204" pitchFamily="18" charset="0"/>
                                        </a:rPr>
                                        <m:t>𝑦</m:t>
                                      </m:r>
                                    </m:e>
                                  </m:acc>
                                </m:e>
                                <m:sub>
                                  <m:r>
                                    <a:rPr lang="en-ZA" sz="2400" b="0" i="1">
                                      <a:latin typeface="Cambria Math" panose="02040503050406030204" pitchFamily="18" charset="0"/>
                                    </a:rPr>
                                    <m:t>𝑖</m:t>
                                  </m:r>
                                </m:sub>
                              </m:sSub>
                            </m:e>
                          </m:d>
                          <m:r>
                            <a:rPr lang="en-ZA" sz="2400" b="0" i="0">
                              <a:latin typeface="Cambria Math" panose="02040503050406030204" pitchFamily="18" charset="0"/>
                            </a:rPr>
                            <m:t> </m:t>
                          </m:r>
                        </m:e>
                      </m:nary>
                      <m:r>
                        <a:rPr lang="en-ZA" sz="2400" b="1" i="1">
                          <a:latin typeface="Cambria Math" panose="02040503050406030204" pitchFamily="18" charset="0"/>
                        </a:rPr>
                        <m:t>𝑴𝑺𝑬</m:t>
                      </m:r>
                      <m:r>
                        <a:rPr lang="en-ZA" sz="2400" b="0" i="0">
                          <a:latin typeface="Cambria Math" panose="02040503050406030204" pitchFamily="18" charset="0"/>
                        </a:rPr>
                        <m:t>= </m:t>
                      </m:r>
                      <m:f>
                        <m:fPr>
                          <m:ctrlPr>
                            <a:rPr lang="en-ZA" sz="2400" b="0" i="1">
                              <a:latin typeface="Cambria Math" panose="02040503050406030204" pitchFamily="18" charset="0"/>
                            </a:rPr>
                          </m:ctrlPr>
                        </m:fPr>
                        <m:num>
                          <m:r>
                            <a:rPr lang="en-ZA" sz="2400" b="0" i="0">
                              <a:latin typeface="Cambria Math" panose="02040503050406030204" pitchFamily="18" charset="0"/>
                            </a:rPr>
                            <m:t>1</m:t>
                          </m:r>
                        </m:num>
                        <m:den>
                          <m:r>
                            <a:rPr lang="en-ZA" sz="2400" b="0" i="1">
                              <a:latin typeface="Cambria Math" panose="02040503050406030204" pitchFamily="18" charset="0"/>
                            </a:rPr>
                            <m:t>𝑛</m:t>
                          </m:r>
                        </m:den>
                      </m:f>
                      <m:nary>
                        <m:naryPr>
                          <m:chr m:val="∑"/>
                          <m:limLoc m:val="undOvr"/>
                          <m:ctrlPr>
                            <a:rPr lang="en-ZA" sz="2400" b="0" i="1">
                              <a:latin typeface="Cambria Math" panose="02040503050406030204" pitchFamily="18" charset="0"/>
                            </a:rPr>
                          </m:ctrlPr>
                        </m:naryPr>
                        <m:sub>
                          <m:r>
                            <a:rPr lang="en-ZA" sz="2400" b="0" i="1">
                              <a:latin typeface="Cambria Math" panose="02040503050406030204" pitchFamily="18" charset="0"/>
                            </a:rPr>
                            <m:t>𝑖</m:t>
                          </m:r>
                          <m:r>
                            <a:rPr lang="en-ZA" sz="2400" b="0" i="0">
                              <a:latin typeface="Cambria Math" panose="02040503050406030204" pitchFamily="18" charset="0"/>
                            </a:rPr>
                            <m:t>=1</m:t>
                          </m:r>
                        </m:sub>
                        <m:sup>
                          <m:r>
                            <a:rPr lang="en-ZA" sz="2400" b="0" i="1">
                              <a:latin typeface="Cambria Math" panose="02040503050406030204" pitchFamily="18" charset="0"/>
                            </a:rPr>
                            <m:t>𝑛</m:t>
                          </m:r>
                        </m:sup>
                        <m:e>
                          <m:sSup>
                            <m:sSupPr>
                              <m:ctrlPr>
                                <a:rPr lang="en-ZA" sz="2400" b="0" i="1">
                                  <a:latin typeface="Cambria Math" panose="02040503050406030204" pitchFamily="18" charset="0"/>
                                </a:rPr>
                              </m:ctrlPr>
                            </m:sSupPr>
                            <m:e>
                              <m:d>
                                <m:dPr>
                                  <m:ctrlPr>
                                    <a:rPr lang="en-ZA" sz="2400" b="0" i="1">
                                      <a:latin typeface="Cambria Math" panose="02040503050406030204" pitchFamily="18" charset="0"/>
                                    </a:rPr>
                                  </m:ctrlPr>
                                </m:dPr>
                                <m:e>
                                  <m:sSub>
                                    <m:sSubPr>
                                      <m:ctrlPr>
                                        <a:rPr lang="en-ZA" sz="2400" b="0" i="1">
                                          <a:latin typeface="Cambria Math" panose="02040503050406030204" pitchFamily="18" charset="0"/>
                                        </a:rPr>
                                      </m:ctrlPr>
                                    </m:sSubPr>
                                    <m:e>
                                      <m:r>
                                        <a:rPr lang="en-ZA" sz="2400" b="0" i="1">
                                          <a:latin typeface="Cambria Math" panose="02040503050406030204" pitchFamily="18" charset="0"/>
                                        </a:rPr>
                                        <m:t>𝑦</m:t>
                                      </m:r>
                                    </m:e>
                                    <m:sub>
                                      <m:r>
                                        <a:rPr lang="en-ZA" sz="2400" b="0" i="1">
                                          <a:latin typeface="Cambria Math" panose="02040503050406030204" pitchFamily="18" charset="0"/>
                                        </a:rPr>
                                        <m:t>𝑖</m:t>
                                      </m:r>
                                    </m:sub>
                                  </m:sSub>
                                  <m:r>
                                    <a:rPr lang="en-ZA" sz="2400" b="0" i="0">
                                      <a:latin typeface="Cambria Math" panose="02040503050406030204" pitchFamily="18" charset="0"/>
                                    </a:rPr>
                                    <m:t>−</m:t>
                                  </m:r>
                                  <m:sSub>
                                    <m:sSubPr>
                                      <m:ctrlPr>
                                        <a:rPr lang="en-ZA" sz="2400" b="0" i="1">
                                          <a:latin typeface="Cambria Math" panose="02040503050406030204" pitchFamily="18" charset="0"/>
                                        </a:rPr>
                                      </m:ctrlPr>
                                    </m:sSubPr>
                                    <m:e>
                                      <m:acc>
                                        <m:accPr>
                                          <m:chr m:val="̂"/>
                                          <m:ctrlPr>
                                            <a:rPr lang="en-ZA" sz="2400" b="0" i="1">
                                              <a:latin typeface="Cambria Math" panose="02040503050406030204" pitchFamily="18" charset="0"/>
                                            </a:rPr>
                                          </m:ctrlPr>
                                        </m:accPr>
                                        <m:e>
                                          <m:r>
                                            <a:rPr lang="en-ZA" sz="2400" b="0" i="1">
                                              <a:latin typeface="Cambria Math" panose="02040503050406030204" pitchFamily="18" charset="0"/>
                                            </a:rPr>
                                            <m:t>𝑦</m:t>
                                          </m:r>
                                        </m:e>
                                      </m:acc>
                                    </m:e>
                                    <m:sub>
                                      <m:r>
                                        <a:rPr lang="en-ZA" sz="2400" b="0" i="1">
                                          <a:latin typeface="Cambria Math" panose="02040503050406030204" pitchFamily="18" charset="0"/>
                                        </a:rPr>
                                        <m:t>𝑖</m:t>
                                      </m:r>
                                    </m:sub>
                                  </m:sSub>
                                </m:e>
                              </m:d>
                            </m:e>
                            <m:sup>
                              <m:r>
                                <a:rPr lang="en-ZA" sz="2400" b="0" i="0">
                                  <a:latin typeface="Cambria Math" panose="02040503050406030204" pitchFamily="18" charset="0"/>
                                </a:rPr>
                                <m:t>2</m:t>
                              </m:r>
                            </m:sup>
                          </m:sSup>
                        </m:e>
                      </m:nary>
                      <m:r>
                        <a:rPr lang="en-ZA" sz="2400" b="0" i="0">
                          <a:latin typeface="Cambria Math" panose="02040503050406030204" pitchFamily="18" charset="0"/>
                        </a:rPr>
                        <m:t> </m:t>
                      </m:r>
                      <m:r>
                        <a:rPr lang="en-ZA" sz="2400" b="1" i="1">
                          <a:latin typeface="Cambria Math" panose="02040503050406030204" pitchFamily="18" charset="0"/>
                        </a:rPr>
                        <m:t>𝑹𝑴𝑺𝑬</m:t>
                      </m:r>
                      <m:r>
                        <a:rPr lang="en-ZA" sz="2400" b="0" i="0">
                          <a:latin typeface="Cambria Math" panose="02040503050406030204" pitchFamily="18" charset="0"/>
                        </a:rPr>
                        <m:t>= </m:t>
                      </m:r>
                      <m:rad>
                        <m:radPr>
                          <m:degHide m:val="on"/>
                          <m:ctrlPr>
                            <a:rPr lang="en-ZA" sz="2400" b="0" i="1">
                              <a:latin typeface="Cambria Math" panose="02040503050406030204" pitchFamily="18" charset="0"/>
                            </a:rPr>
                          </m:ctrlPr>
                        </m:radPr>
                        <m:deg/>
                        <m:e>
                          <m:f>
                            <m:fPr>
                              <m:ctrlPr>
                                <a:rPr lang="en-ZA" sz="2400" b="0" i="1">
                                  <a:latin typeface="Cambria Math" panose="02040503050406030204" pitchFamily="18" charset="0"/>
                                </a:rPr>
                              </m:ctrlPr>
                            </m:fPr>
                            <m:num>
                              <m:r>
                                <a:rPr lang="en-ZA" sz="2400" b="0" i="0">
                                  <a:latin typeface="Cambria Math" panose="02040503050406030204" pitchFamily="18" charset="0"/>
                                </a:rPr>
                                <m:t>1</m:t>
                              </m:r>
                            </m:num>
                            <m:den>
                              <m:r>
                                <a:rPr lang="en-ZA" sz="2400" b="0" i="1">
                                  <a:latin typeface="Cambria Math" panose="02040503050406030204" pitchFamily="18" charset="0"/>
                                </a:rPr>
                                <m:t>𝑛</m:t>
                              </m:r>
                            </m:den>
                          </m:f>
                          <m:nary>
                            <m:naryPr>
                              <m:chr m:val="∑"/>
                              <m:limLoc m:val="undOvr"/>
                              <m:ctrlPr>
                                <a:rPr lang="en-ZA" sz="2400" b="0" i="1">
                                  <a:latin typeface="Cambria Math" panose="02040503050406030204" pitchFamily="18" charset="0"/>
                                </a:rPr>
                              </m:ctrlPr>
                            </m:naryPr>
                            <m:sub>
                              <m:r>
                                <a:rPr lang="en-ZA" sz="2400" b="0" i="1">
                                  <a:latin typeface="Cambria Math" panose="02040503050406030204" pitchFamily="18" charset="0"/>
                                </a:rPr>
                                <m:t>𝑖</m:t>
                              </m:r>
                              <m:r>
                                <a:rPr lang="en-ZA" sz="2400" b="0" i="0">
                                  <a:latin typeface="Cambria Math" panose="02040503050406030204" pitchFamily="18" charset="0"/>
                                </a:rPr>
                                <m:t> = 1</m:t>
                              </m:r>
                            </m:sub>
                            <m:sup>
                              <m:r>
                                <a:rPr lang="en-ZA" sz="2400" b="0" i="1">
                                  <a:latin typeface="Cambria Math" panose="02040503050406030204" pitchFamily="18" charset="0"/>
                                </a:rPr>
                                <m:t>𝑛</m:t>
                              </m:r>
                            </m:sup>
                            <m:e>
                              <m:sSup>
                                <m:sSupPr>
                                  <m:ctrlPr>
                                    <a:rPr lang="en-ZA" sz="2400" b="0" i="1">
                                      <a:latin typeface="Cambria Math" panose="02040503050406030204" pitchFamily="18" charset="0"/>
                                    </a:rPr>
                                  </m:ctrlPr>
                                </m:sSupPr>
                                <m:e>
                                  <m:d>
                                    <m:dPr>
                                      <m:ctrlPr>
                                        <a:rPr lang="en-ZA" sz="2400" b="0" i="1">
                                          <a:latin typeface="Cambria Math" panose="02040503050406030204" pitchFamily="18" charset="0"/>
                                        </a:rPr>
                                      </m:ctrlPr>
                                    </m:dPr>
                                    <m:e>
                                      <m:sSub>
                                        <m:sSubPr>
                                          <m:ctrlPr>
                                            <a:rPr lang="en-ZA" sz="2400" b="0" i="1">
                                              <a:latin typeface="Cambria Math" panose="02040503050406030204" pitchFamily="18" charset="0"/>
                                            </a:rPr>
                                          </m:ctrlPr>
                                        </m:sSubPr>
                                        <m:e>
                                          <m:r>
                                            <a:rPr lang="en-ZA" sz="2400" b="0" i="1">
                                              <a:latin typeface="Cambria Math" panose="02040503050406030204" pitchFamily="18" charset="0"/>
                                            </a:rPr>
                                            <m:t>𝑦</m:t>
                                          </m:r>
                                        </m:e>
                                        <m:sub>
                                          <m:r>
                                            <a:rPr lang="en-ZA" sz="2400" b="0" i="1">
                                              <a:latin typeface="Cambria Math" panose="02040503050406030204" pitchFamily="18" charset="0"/>
                                            </a:rPr>
                                            <m:t>𝑖</m:t>
                                          </m:r>
                                        </m:sub>
                                      </m:sSub>
                                      <m:r>
                                        <a:rPr lang="en-ZA" sz="2400" b="0" i="0">
                                          <a:latin typeface="Cambria Math" panose="02040503050406030204" pitchFamily="18" charset="0"/>
                                        </a:rPr>
                                        <m:t>−</m:t>
                                      </m:r>
                                      <m:sSub>
                                        <m:sSubPr>
                                          <m:ctrlPr>
                                            <a:rPr lang="en-ZA" sz="2400" b="0" i="1">
                                              <a:latin typeface="Cambria Math" panose="02040503050406030204" pitchFamily="18" charset="0"/>
                                            </a:rPr>
                                          </m:ctrlPr>
                                        </m:sSubPr>
                                        <m:e>
                                          <m:acc>
                                            <m:accPr>
                                              <m:chr m:val="̂"/>
                                              <m:ctrlPr>
                                                <a:rPr lang="en-ZA" sz="2400" b="0" i="1">
                                                  <a:latin typeface="Cambria Math" panose="02040503050406030204" pitchFamily="18" charset="0"/>
                                                </a:rPr>
                                              </m:ctrlPr>
                                            </m:accPr>
                                            <m:e>
                                              <m:r>
                                                <a:rPr lang="en-ZA" sz="2400" b="0" i="1">
                                                  <a:latin typeface="Cambria Math" panose="02040503050406030204" pitchFamily="18" charset="0"/>
                                                </a:rPr>
                                                <m:t>𝑦</m:t>
                                              </m:r>
                                            </m:e>
                                          </m:acc>
                                        </m:e>
                                        <m:sub>
                                          <m:r>
                                            <a:rPr lang="en-ZA" sz="2400" b="0" i="1">
                                              <a:latin typeface="Cambria Math" panose="02040503050406030204" pitchFamily="18" charset="0"/>
                                            </a:rPr>
                                            <m:t>𝑖</m:t>
                                          </m:r>
                                        </m:sub>
                                      </m:sSub>
                                    </m:e>
                                  </m:d>
                                </m:e>
                                <m:sup>
                                  <m:r>
                                    <a:rPr lang="en-ZA" sz="2400" b="0" i="0">
                                      <a:latin typeface="Cambria Math" panose="02040503050406030204" pitchFamily="18" charset="0"/>
                                    </a:rPr>
                                    <m:t>2</m:t>
                                  </m:r>
                                </m:sup>
                              </m:sSup>
                            </m:e>
                          </m:nary>
                        </m:e>
                      </m:rad>
                    </m:oMath>
                  </m:oMathPara>
                </a14:m>
                <a:endParaRPr lang="en-ZA" sz="2400" dirty="0"/>
              </a:p>
            </p:txBody>
          </p:sp>
        </mc:Choice>
        <mc:Fallback xmlns="">
          <p:sp>
            <p:nvSpPr>
              <p:cNvPr id="4" name="TextBox 3">
                <a:extLst>
                  <a:ext uri="{FF2B5EF4-FFF2-40B4-BE49-F238E27FC236}">
                    <a16:creationId xmlns:a16="http://schemas.microsoft.com/office/drawing/2014/main" id="{24EBE842-7C4C-673F-748D-6416BA4EAB24}"/>
                  </a:ext>
                </a:extLst>
              </p:cNvPr>
              <p:cNvSpPr txBox="1">
                <a:spLocks noRot="1" noChangeAspect="1" noMove="1" noResize="1" noEditPoints="1" noAdjustHandles="1" noChangeArrowheads="1" noChangeShapeType="1" noTextEdit="1"/>
              </p:cNvSpPr>
              <p:nvPr/>
            </p:nvSpPr>
            <p:spPr>
              <a:xfrm>
                <a:off x="1425677" y="2819877"/>
                <a:ext cx="10176388" cy="1529201"/>
              </a:xfrm>
              <a:prstGeom prst="rect">
                <a:avLst/>
              </a:prstGeom>
              <a:blipFill>
                <a:blip r:embed="rId2"/>
                <a:stretch>
                  <a:fillRect/>
                </a:stretch>
              </a:blipFill>
            </p:spPr>
            <p:txBody>
              <a:bodyPr/>
              <a:lstStyle/>
              <a:p>
                <a:r>
                  <a:rPr lang="en-ZA">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A6DFF67A-2C4D-E243-5FCE-3402E07C3EB2}"/>
                  </a:ext>
                </a:extLst>
              </p:cNvPr>
              <p:cNvSpPr txBox="1"/>
              <p:nvPr/>
            </p:nvSpPr>
            <p:spPr>
              <a:xfrm>
                <a:off x="1592825" y="4847303"/>
                <a:ext cx="9330813" cy="9193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ZA" sz="2400" b="1" i="1" smtClean="0">
                              <a:latin typeface="Cambria Math" panose="02040503050406030204" pitchFamily="18" charset="0"/>
                            </a:rPr>
                          </m:ctrlPr>
                        </m:sSupPr>
                        <m:e>
                          <m:r>
                            <a:rPr lang="en-ZA" sz="2400" b="1" i="1">
                              <a:latin typeface="Cambria Math" panose="02040503050406030204" pitchFamily="18" charset="0"/>
                            </a:rPr>
                            <m:t>𝑹</m:t>
                          </m:r>
                        </m:e>
                        <m:sup>
                          <m:r>
                            <a:rPr lang="en-ZA" sz="2400" b="0" i="0">
                              <a:latin typeface="Cambria Math" panose="02040503050406030204" pitchFamily="18" charset="0"/>
                            </a:rPr>
                            <m:t>2</m:t>
                          </m:r>
                        </m:sup>
                      </m:sSup>
                      <m:r>
                        <a:rPr lang="en-ZA" sz="2400" b="0" i="0">
                          <a:latin typeface="Cambria Math" panose="02040503050406030204" pitchFamily="18" charset="0"/>
                        </a:rPr>
                        <m:t>=1−</m:t>
                      </m:r>
                      <m:f>
                        <m:fPr>
                          <m:ctrlPr>
                            <a:rPr lang="en-ZA" sz="2400" b="0" i="1">
                              <a:latin typeface="Cambria Math" panose="02040503050406030204" pitchFamily="18" charset="0"/>
                            </a:rPr>
                          </m:ctrlPr>
                        </m:fPr>
                        <m:num>
                          <m:sSub>
                            <m:sSubPr>
                              <m:ctrlPr>
                                <a:rPr lang="en-ZA" sz="2400" b="0" i="1">
                                  <a:latin typeface="Cambria Math" panose="02040503050406030204" pitchFamily="18" charset="0"/>
                                </a:rPr>
                              </m:ctrlPr>
                            </m:sSubPr>
                            <m:e>
                              <m:r>
                                <a:rPr lang="en-ZA" sz="2400" b="0" i="1">
                                  <a:latin typeface="Cambria Math" panose="02040503050406030204" pitchFamily="18" charset="0"/>
                                </a:rPr>
                                <m:t>𝑆𝑆</m:t>
                              </m:r>
                            </m:e>
                            <m:sub>
                              <m:r>
                                <a:rPr lang="en-ZA" sz="2400" b="0" i="1">
                                  <a:latin typeface="Cambria Math" panose="02040503050406030204" pitchFamily="18" charset="0"/>
                                </a:rPr>
                                <m:t>𝑟𝑒𝑠</m:t>
                              </m:r>
                            </m:sub>
                          </m:sSub>
                        </m:num>
                        <m:den>
                          <m:sSub>
                            <m:sSubPr>
                              <m:ctrlPr>
                                <a:rPr lang="en-ZA" sz="2400" b="0" i="1">
                                  <a:latin typeface="Cambria Math" panose="02040503050406030204" pitchFamily="18" charset="0"/>
                                </a:rPr>
                              </m:ctrlPr>
                            </m:sSubPr>
                            <m:e>
                              <m:r>
                                <a:rPr lang="en-ZA" sz="2400" b="0" i="1">
                                  <a:latin typeface="Cambria Math" panose="02040503050406030204" pitchFamily="18" charset="0"/>
                                </a:rPr>
                                <m:t>𝑆𝑆</m:t>
                              </m:r>
                            </m:e>
                            <m:sub>
                              <m:r>
                                <a:rPr lang="en-ZA" sz="2400" b="0" i="1">
                                  <a:latin typeface="Cambria Math" panose="02040503050406030204" pitchFamily="18" charset="0"/>
                                </a:rPr>
                                <m:t>𝑡𝑜𝑡</m:t>
                              </m:r>
                            </m:sub>
                          </m:sSub>
                        </m:den>
                      </m:f>
                      <m:r>
                        <a:rPr lang="en-ZA" sz="2400" b="0" i="0">
                          <a:latin typeface="Cambria Math" panose="02040503050406030204" pitchFamily="18" charset="0"/>
                        </a:rPr>
                        <m:t>=1−</m:t>
                      </m:r>
                      <m:f>
                        <m:fPr>
                          <m:ctrlPr>
                            <a:rPr lang="en-ZA" sz="2400" b="0" i="1">
                              <a:latin typeface="Cambria Math" panose="02040503050406030204" pitchFamily="18" charset="0"/>
                            </a:rPr>
                          </m:ctrlPr>
                        </m:fPr>
                        <m:num>
                          <m:nary>
                            <m:naryPr>
                              <m:chr m:val="∑"/>
                              <m:limLoc m:val="subSup"/>
                              <m:ctrlPr>
                                <a:rPr lang="en-ZA" sz="2400" b="0" i="1">
                                  <a:latin typeface="Cambria Math" panose="02040503050406030204" pitchFamily="18" charset="0"/>
                                </a:rPr>
                              </m:ctrlPr>
                            </m:naryPr>
                            <m:sub>
                              <m:r>
                                <a:rPr lang="en-ZA" sz="2400" b="0" i="1">
                                  <a:latin typeface="Cambria Math" panose="02040503050406030204" pitchFamily="18" charset="0"/>
                                </a:rPr>
                                <m:t>𝑖</m:t>
                              </m:r>
                              <m:r>
                                <a:rPr lang="en-ZA" sz="2400" b="0" i="0">
                                  <a:latin typeface="Cambria Math" panose="02040503050406030204" pitchFamily="18" charset="0"/>
                                </a:rPr>
                                <m:t>=1</m:t>
                              </m:r>
                            </m:sub>
                            <m:sup>
                              <m:r>
                                <a:rPr lang="en-ZA" sz="2400" b="0" i="1">
                                  <a:latin typeface="Cambria Math" panose="02040503050406030204" pitchFamily="18" charset="0"/>
                                </a:rPr>
                                <m:t>𝑛</m:t>
                              </m:r>
                            </m:sup>
                            <m:e>
                              <m:sSup>
                                <m:sSupPr>
                                  <m:ctrlPr>
                                    <a:rPr lang="en-ZA" sz="2400" b="0" i="1">
                                      <a:latin typeface="Cambria Math" panose="02040503050406030204" pitchFamily="18" charset="0"/>
                                    </a:rPr>
                                  </m:ctrlPr>
                                </m:sSupPr>
                                <m:e>
                                  <m:d>
                                    <m:dPr>
                                      <m:ctrlPr>
                                        <a:rPr lang="en-ZA" sz="2400" b="0" i="1">
                                          <a:latin typeface="Cambria Math" panose="02040503050406030204" pitchFamily="18" charset="0"/>
                                        </a:rPr>
                                      </m:ctrlPr>
                                    </m:dPr>
                                    <m:e>
                                      <m:sSub>
                                        <m:sSubPr>
                                          <m:ctrlPr>
                                            <a:rPr lang="en-ZA" sz="2400" b="0" i="1">
                                              <a:latin typeface="Cambria Math" panose="02040503050406030204" pitchFamily="18" charset="0"/>
                                            </a:rPr>
                                          </m:ctrlPr>
                                        </m:sSubPr>
                                        <m:e>
                                          <m:r>
                                            <a:rPr lang="en-ZA" sz="2400" b="0" i="1">
                                              <a:latin typeface="Cambria Math" panose="02040503050406030204" pitchFamily="18" charset="0"/>
                                            </a:rPr>
                                            <m:t>𝑦</m:t>
                                          </m:r>
                                        </m:e>
                                        <m:sub>
                                          <m:r>
                                            <a:rPr lang="en-ZA" sz="2400" b="0" i="1">
                                              <a:latin typeface="Cambria Math" panose="02040503050406030204" pitchFamily="18" charset="0"/>
                                            </a:rPr>
                                            <m:t>𝑖</m:t>
                                          </m:r>
                                        </m:sub>
                                      </m:sSub>
                                      <m:r>
                                        <a:rPr lang="en-ZA" sz="2400" b="0" i="0">
                                          <a:latin typeface="Cambria Math" panose="02040503050406030204" pitchFamily="18" charset="0"/>
                                        </a:rPr>
                                        <m:t>−</m:t>
                                      </m:r>
                                      <m:sSub>
                                        <m:sSubPr>
                                          <m:ctrlPr>
                                            <a:rPr lang="en-ZA" sz="2400" b="0" i="1">
                                              <a:latin typeface="Cambria Math" panose="02040503050406030204" pitchFamily="18" charset="0"/>
                                            </a:rPr>
                                          </m:ctrlPr>
                                        </m:sSubPr>
                                        <m:e>
                                          <m:acc>
                                            <m:accPr>
                                              <m:chr m:val="̂"/>
                                              <m:ctrlPr>
                                                <a:rPr lang="en-ZA" sz="2400" b="0" i="1">
                                                  <a:latin typeface="Cambria Math" panose="02040503050406030204" pitchFamily="18" charset="0"/>
                                                </a:rPr>
                                              </m:ctrlPr>
                                            </m:accPr>
                                            <m:e>
                                              <m:r>
                                                <a:rPr lang="en-ZA" sz="2400" b="0" i="1">
                                                  <a:latin typeface="Cambria Math" panose="02040503050406030204" pitchFamily="18" charset="0"/>
                                                </a:rPr>
                                                <m:t>𝑦</m:t>
                                              </m:r>
                                            </m:e>
                                          </m:acc>
                                        </m:e>
                                        <m:sub>
                                          <m:r>
                                            <a:rPr lang="en-ZA" sz="2400" b="0" i="1">
                                              <a:latin typeface="Cambria Math" panose="02040503050406030204" pitchFamily="18" charset="0"/>
                                            </a:rPr>
                                            <m:t>𝑖</m:t>
                                          </m:r>
                                        </m:sub>
                                      </m:sSub>
                                    </m:e>
                                  </m:d>
                                </m:e>
                                <m:sup>
                                  <m:r>
                                    <a:rPr lang="en-ZA" sz="2400" b="0" i="0">
                                      <a:latin typeface="Cambria Math" panose="02040503050406030204" pitchFamily="18" charset="0"/>
                                    </a:rPr>
                                    <m:t>2</m:t>
                                  </m:r>
                                </m:sup>
                              </m:sSup>
                            </m:e>
                          </m:nary>
                        </m:num>
                        <m:den>
                          <m:nary>
                            <m:naryPr>
                              <m:chr m:val="∑"/>
                              <m:limLoc m:val="subSup"/>
                              <m:ctrlPr>
                                <a:rPr lang="en-ZA" sz="2400" b="0" i="1">
                                  <a:latin typeface="Cambria Math" panose="02040503050406030204" pitchFamily="18" charset="0"/>
                                </a:rPr>
                              </m:ctrlPr>
                            </m:naryPr>
                            <m:sub>
                              <m:r>
                                <a:rPr lang="en-ZA" sz="2400" b="0" i="1">
                                  <a:latin typeface="Cambria Math" panose="02040503050406030204" pitchFamily="18" charset="0"/>
                                </a:rPr>
                                <m:t>𝑖</m:t>
                              </m:r>
                              <m:r>
                                <a:rPr lang="en-ZA" sz="2400" b="0" i="0">
                                  <a:latin typeface="Cambria Math" panose="02040503050406030204" pitchFamily="18" charset="0"/>
                                </a:rPr>
                                <m:t>=1</m:t>
                              </m:r>
                            </m:sub>
                            <m:sup>
                              <m:r>
                                <a:rPr lang="en-ZA" sz="2400" b="0" i="1">
                                  <a:latin typeface="Cambria Math" panose="02040503050406030204" pitchFamily="18" charset="0"/>
                                </a:rPr>
                                <m:t>𝑛</m:t>
                              </m:r>
                            </m:sup>
                            <m:e>
                              <m:sSup>
                                <m:sSupPr>
                                  <m:ctrlPr>
                                    <a:rPr lang="en-ZA" sz="2400" b="0" i="1">
                                      <a:latin typeface="Cambria Math" panose="02040503050406030204" pitchFamily="18" charset="0"/>
                                    </a:rPr>
                                  </m:ctrlPr>
                                </m:sSupPr>
                                <m:e>
                                  <m:d>
                                    <m:dPr>
                                      <m:ctrlPr>
                                        <a:rPr lang="en-ZA" sz="2400" b="0" i="1">
                                          <a:latin typeface="Cambria Math" panose="02040503050406030204" pitchFamily="18" charset="0"/>
                                        </a:rPr>
                                      </m:ctrlPr>
                                    </m:dPr>
                                    <m:e>
                                      <m:sSub>
                                        <m:sSubPr>
                                          <m:ctrlPr>
                                            <a:rPr lang="en-ZA" sz="2400" b="0" i="1">
                                              <a:latin typeface="Cambria Math" panose="02040503050406030204" pitchFamily="18" charset="0"/>
                                            </a:rPr>
                                          </m:ctrlPr>
                                        </m:sSubPr>
                                        <m:e>
                                          <m:r>
                                            <a:rPr lang="en-ZA" sz="2400" b="0" i="1">
                                              <a:latin typeface="Cambria Math" panose="02040503050406030204" pitchFamily="18" charset="0"/>
                                            </a:rPr>
                                            <m:t>𝑦</m:t>
                                          </m:r>
                                        </m:e>
                                        <m:sub>
                                          <m:r>
                                            <a:rPr lang="en-ZA" sz="2400" b="0" i="1">
                                              <a:latin typeface="Cambria Math" panose="02040503050406030204" pitchFamily="18" charset="0"/>
                                            </a:rPr>
                                            <m:t>𝑖</m:t>
                                          </m:r>
                                        </m:sub>
                                      </m:sSub>
                                      <m:r>
                                        <a:rPr lang="en-ZA" sz="2400" b="0" i="0">
                                          <a:latin typeface="Cambria Math" panose="02040503050406030204" pitchFamily="18" charset="0"/>
                                        </a:rPr>
                                        <m:t>−</m:t>
                                      </m:r>
                                      <m:acc>
                                        <m:accPr>
                                          <m:chr m:val="̅"/>
                                          <m:ctrlPr>
                                            <a:rPr lang="en-ZA" sz="2400" b="0" i="1">
                                              <a:latin typeface="Cambria Math" panose="02040503050406030204" pitchFamily="18" charset="0"/>
                                            </a:rPr>
                                          </m:ctrlPr>
                                        </m:accPr>
                                        <m:e>
                                          <m:r>
                                            <a:rPr lang="en-ZA" sz="2400" b="0" i="1">
                                              <a:latin typeface="Cambria Math" panose="02040503050406030204" pitchFamily="18" charset="0"/>
                                            </a:rPr>
                                            <m:t>𝑦</m:t>
                                          </m:r>
                                        </m:e>
                                      </m:acc>
                                    </m:e>
                                  </m:d>
                                </m:e>
                                <m:sup>
                                  <m:r>
                                    <a:rPr lang="en-ZA" sz="2400" b="0" i="0">
                                      <a:latin typeface="Cambria Math" panose="02040503050406030204" pitchFamily="18" charset="0"/>
                                    </a:rPr>
                                    <m:t>2</m:t>
                                  </m:r>
                                </m:sup>
                              </m:sSup>
                            </m:e>
                          </m:nary>
                        </m:den>
                      </m:f>
                    </m:oMath>
                  </m:oMathPara>
                </a14:m>
                <a:endParaRPr lang="en-ZA" sz="2400" dirty="0"/>
              </a:p>
            </p:txBody>
          </p:sp>
        </mc:Choice>
        <mc:Fallback xmlns="">
          <p:sp>
            <p:nvSpPr>
              <p:cNvPr id="6" name="TextBox 5">
                <a:extLst>
                  <a:ext uri="{FF2B5EF4-FFF2-40B4-BE49-F238E27FC236}">
                    <a16:creationId xmlns:a16="http://schemas.microsoft.com/office/drawing/2014/main" id="{A6DFF67A-2C4D-E243-5FCE-3402E07C3EB2}"/>
                  </a:ext>
                </a:extLst>
              </p:cNvPr>
              <p:cNvSpPr txBox="1">
                <a:spLocks noRot="1" noChangeAspect="1" noMove="1" noResize="1" noEditPoints="1" noAdjustHandles="1" noChangeArrowheads="1" noChangeShapeType="1" noTextEdit="1"/>
              </p:cNvSpPr>
              <p:nvPr/>
            </p:nvSpPr>
            <p:spPr>
              <a:xfrm>
                <a:off x="1592825" y="4847303"/>
                <a:ext cx="9330813" cy="919354"/>
              </a:xfrm>
              <a:prstGeom prst="rect">
                <a:avLst/>
              </a:prstGeom>
              <a:blipFill>
                <a:blip r:embed="rId3"/>
                <a:stretch>
                  <a:fillRect/>
                </a:stretch>
              </a:blipFill>
            </p:spPr>
            <p:txBody>
              <a:bodyPr/>
              <a:lstStyle/>
              <a:p>
                <a:r>
                  <a:rPr lang="en-ZA">
                    <a:noFill/>
                  </a:rPr>
                  <a:t> </a:t>
                </a:r>
              </a:p>
            </p:txBody>
          </p:sp>
        </mc:Fallback>
      </mc:AlternateContent>
      <p:sp>
        <p:nvSpPr>
          <p:cNvPr id="7" name="TextBox 6">
            <a:extLst>
              <a:ext uri="{FF2B5EF4-FFF2-40B4-BE49-F238E27FC236}">
                <a16:creationId xmlns:a16="http://schemas.microsoft.com/office/drawing/2014/main" id="{3F41E668-E76A-B648-E19D-79EEE53B90A2}"/>
              </a:ext>
            </a:extLst>
          </p:cNvPr>
          <p:cNvSpPr txBox="1"/>
          <p:nvPr/>
        </p:nvSpPr>
        <p:spPr>
          <a:xfrm>
            <a:off x="838200" y="1386348"/>
            <a:ext cx="7774858" cy="646331"/>
          </a:xfrm>
          <a:prstGeom prst="rect">
            <a:avLst/>
          </a:prstGeom>
          <a:noFill/>
        </p:spPr>
        <p:txBody>
          <a:bodyPr wrap="square" rtlCol="0">
            <a:spAutoFit/>
          </a:bodyPr>
          <a:lstStyle/>
          <a:p>
            <a:r>
              <a:rPr lang="en-ZA" dirty="0"/>
              <a:t>We employed four commonly used regression metrics to provide predictive accuracy and model fit.</a:t>
            </a:r>
          </a:p>
        </p:txBody>
      </p:sp>
      <p:pic>
        <p:nvPicPr>
          <p:cNvPr id="8" name="Picture 4" descr="Home | UWC">
            <a:extLst>
              <a:ext uri="{FF2B5EF4-FFF2-40B4-BE49-F238E27FC236}">
                <a16:creationId xmlns:a16="http://schemas.microsoft.com/office/drawing/2014/main" id="{A5711B26-7771-7572-E681-DEF25BA8303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31146" y="5977041"/>
            <a:ext cx="698714" cy="698714"/>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Stellenbosch University (SU)">
            <a:extLst>
              <a:ext uri="{FF2B5EF4-FFF2-40B4-BE49-F238E27FC236}">
                <a16:creationId xmlns:a16="http://schemas.microsoft.com/office/drawing/2014/main" id="{0134CA76-6D2A-9A7B-A4DD-266446756CC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518606" y="6050877"/>
            <a:ext cx="1414904" cy="5675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052344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0D7025-CF46-11B8-CC7C-5B8AF26C25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921224-8531-FBB6-AD6C-4D55378E7BF0}"/>
              </a:ext>
            </a:extLst>
          </p:cNvPr>
          <p:cNvSpPr>
            <a:spLocks noGrp="1"/>
          </p:cNvSpPr>
          <p:nvPr>
            <p:ph type="title"/>
          </p:nvPr>
        </p:nvSpPr>
        <p:spPr>
          <a:xfrm>
            <a:off x="838200" y="201223"/>
            <a:ext cx="8265160" cy="925195"/>
          </a:xfrm>
        </p:spPr>
        <p:txBody>
          <a:bodyPr>
            <a:normAutofit/>
          </a:bodyPr>
          <a:lstStyle/>
          <a:p>
            <a:r>
              <a:rPr lang="en-ZA" sz="3200" dirty="0"/>
              <a:t>Results – Feature Importance</a:t>
            </a:r>
          </a:p>
        </p:txBody>
      </p:sp>
      <p:sp>
        <p:nvSpPr>
          <p:cNvPr id="7" name="TextBox 6">
            <a:extLst>
              <a:ext uri="{FF2B5EF4-FFF2-40B4-BE49-F238E27FC236}">
                <a16:creationId xmlns:a16="http://schemas.microsoft.com/office/drawing/2014/main" id="{88103BBD-7F2D-D37B-D862-8940CFB9C7BC}"/>
              </a:ext>
            </a:extLst>
          </p:cNvPr>
          <p:cNvSpPr txBox="1"/>
          <p:nvPr/>
        </p:nvSpPr>
        <p:spPr>
          <a:xfrm>
            <a:off x="838200" y="1126418"/>
            <a:ext cx="7774858" cy="1384995"/>
          </a:xfrm>
          <a:prstGeom prst="rect">
            <a:avLst/>
          </a:prstGeom>
          <a:noFill/>
        </p:spPr>
        <p:txBody>
          <a:bodyPr wrap="square" rtlCol="0">
            <a:spAutoFit/>
          </a:bodyPr>
          <a:lstStyle/>
          <a:p>
            <a:r>
              <a:rPr lang="en-US" sz="1400" dirty="0"/>
              <a:t>The analysis identifies Infant Mortality Rate as the most consistent predictor of cholera incidence (average importance 0.058), likely reflecting broader healthcare quality and population vulnerability. Turbidity follows (0.044), underscoring the role of water clarity and contamination in transmission. Overall, feature importance scores are low, with the highest at 0.145 (</a:t>
            </a:r>
            <a:r>
              <a:rPr lang="en-US" sz="1400" dirty="0" err="1"/>
              <a:t>TabNet</a:t>
            </a:r>
            <a:r>
              <a:rPr lang="en-US" sz="1400" dirty="0"/>
              <a:t> for Infant Mortality Rate) and most below 0.050, indicating cholera risk stems from a distributed set of factors rather than a few dominant ones. </a:t>
            </a:r>
            <a:endParaRPr lang="en-ZA" sz="1400" dirty="0"/>
          </a:p>
        </p:txBody>
      </p:sp>
      <p:graphicFrame>
        <p:nvGraphicFramePr>
          <p:cNvPr id="5" name="Table 4">
            <a:extLst>
              <a:ext uri="{FF2B5EF4-FFF2-40B4-BE49-F238E27FC236}">
                <a16:creationId xmlns:a16="http://schemas.microsoft.com/office/drawing/2014/main" id="{CC246D45-0AF7-90C7-55F9-2CF8FD17B91C}"/>
              </a:ext>
            </a:extLst>
          </p:cNvPr>
          <p:cNvGraphicFramePr>
            <a:graphicFrameLocks noGrp="1"/>
          </p:cNvGraphicFramePr>
          <p:nvPr>
            <p:extLst>
              <p:ext uri="{D42A27DB-BD31-4B8C-83A1-F6EECF244321}">
                <p14:modId xmlns:p14="http://schemas.microsoft.com/office/powerpoint/2010/main" val="1900753000"/>
              </p:ext>
            </p:extLst>
          </p:nvPr>
        </p:nvGraphicFramePr>
        <p:xfrm>
          <a:off x="838200" y="2552336"/>
          <a:ext cx="7546674" cy="2272986"/>
        </p:xfrm>
        <a:graphic>
          <a:graphicData uri="http://schemas.openxmlformats.org/drawingml/2006/table">
            <a:tbl>
              <a:tblPr>
                <a:tableStyleId>{5C22544A-7EE6-4342-B048-85BDC9FD1C3A}</a:tableStyleId>
              </a:tblPr>
              <a:tblGrid>
                <a:gridCol w="1972104">
                  <a:extLst>
                    <a:ext uri="{9D8B030D-6E8A-4147-A177-3AD203B41FA5}">
                      <a16:colId xmlns:a16="http://schemas.microsoft.com/office/drawing/2014/main" val="487439985"/>
                    </a:ext>
                  </a:extLst>
                </a:gridCol>
                <a:gridCol w="1475813">
                  <a:extLst>
                    <a:ext uri="{9D8B030D-6E8A-4147-A177-3AD203B41FA5}">
                      <a16:colId xmlns:a16="http://schemas.microsoft.com/office/drawing/2014/main" val="1604736563"/>
                    </a:ext>
                  </a:extLst>
                </a:gridCol>
                <a:gridCol w="1543293">
                  <a:extLst>
                    <a:ext uri="{9D8B030D-6E8A-4147-A177-3AD203B41FA5}">
                      <a16:colId xmlns:a16="http://schemas.microsoft.com/office/drawing/2014/main" val="936052444"/>
                    </a:ext>
                  </a:extLst>
                </a:gridCol>
                <a:gridCol w="1079651">
                  <a:extLst>
                    <a:ext uri="{9D8B030D-6E8A-4147-A177-3AD203B41FA5}">
                      <a16:colId xmlns:a16="http://schemas.microsoft.com/office/drawing/2014/main" val="1873450163"/>
                    </a:ext>
                  </a:extLst>
                </a:gridCol>
                <a:gridCol w="1475813">
                  <a:extLst>
                    <a:ext uri="{9D8B030D-6E8A-4147-A177-3AD203B41FA5}">
                      <a16:colId xmlns:a16="http://schemas.microsoft.com/office/drawing/2014/main" val="2168254758"/>
                    </a:ext>
                  </a:extLst>
                </a:gridCol>
              </a:tblGrid>
              <a:tr h="233526">
                <a:tc>
                  <a:txBody>
                    <a:bodyPr/>
                    <a:lstStyle/>
                    <a:p>
                      <a:pPr algn="just" hangingPunct="0">
                        <a:lnSpc>
                          <a:spcPts val="1200"/>
                        </a:lnSpc>
                        <a:buNone/>
                      </a:pPr>
                      <a:r>
                        <a:rPr lang="en-US" sz="1000">
                          <a:effectLst/>
                        </a:rPr>
                        <a:t>Feature</a:t>
                      </a:r>
                      <a:endParaRPr lang="en-ZA" sz="1000">
                        <a:effectLst/>
                        <a:latin typeface="Times New Roman" panose="02020603050405020304" pitchFamily="18" charset="0"/>
                        <a:ea typeface="Times New Roman" panose="02020603050405020304" pitchFamily="18" charset="0"/>
                      </a:endParaRPr>
                    </a:p>
                  </a:txBody>
                  <a:tcPr marL="44450" marR="44450" marT="0" marB="0"/>
                </a:tc>
                <a:tc>
                  <a:txBody>
                    <a:bodyPr/>
                    <a:lstStyle/>
                    <a:p>
                      <a:pPr indent="144145" algn="just" hangingPunct="0">
                        <a:lnSpc>
                          <a:spcPts val="1200"/>
                        </a:lnSpc>
                        <a:buNone/>
                      </a:pPr>
                      <a:r>
                        <a:rPr lang="en-US" sz="1000">
                          <a:effectLst/>
                        </a:rPr>
                        <a:t>Random Forest</a:t>
                      </a:r>
                      <a:endParaRPr lang="en-ZA" sz="1000">
                        <a:effectLst/>
                        <a:latin typeface="Times New Roman" panose="02020603050405020304" pitchFamily="18" charset="0"/>
                        <a:ea typeface="Times New Roman" panose="02020603050405020304" pitchFamily="18" charset="0"/>
                      </a:endParaRPr>
                    </a:p>
                  </a:txBody>
                  <a:tcPr marL="44450" marR="44450" marT="0" marB="0"/>
                </a:tc>
                <a:tc>
                  <a:txBody>
                    <a:bodyPr/>
                    <a:lstStyle/>
                    <a:p>
                      <a:pPr indent="144145" algn="just" hangingPunct="0">
                        <a:lnSpc>
                          <a:spcPts val="1200"/>
                        </a:lnSpc>
                        <a:buNone/>
                      </a:pPr>
                      <a:r>
                        <a:rPr lang="en-US" sz="1000">
                          <a:effectLst/>
                        </a:rPr>
                        <a:t>XGBoost</a:t>
                      </a:r>
                      <a:endParaRPr lang="en-ZA" sz="1000">
                        <a:effectLst/>
                        <a:latin typeface="Times New Roman" panose="02020603050405020304" pitchFamily="18" charset="0"/>
                        <a:ea typeface="Times New Roman" panose="02020603050405020304" pitchFamily="18" charset="0"/>
                      </a:endParaRPr>
                    </a:p>
                  </a:txBody>
                  <a:tcPr marL="44450" marR="44450" marT="0" marB="0"/>
                </a:tc>
                <a:tc>
                  <a:txBody>
                    <a:bodyPr/>
                    <a:lstStyle/>
                    <a:p>
                      <a:pPr indent="144145" algn="just" hangingPunct="0">
                        <a:lnSpc>
                          <a:spcPts val="1200"/>
                        </a:lnSpc>
                        <a:buNone/>
                      </a:pPr>
                      <a:r>
                        <a:rPr lang="en-US" sz="1000">
                          <a:effectLst/>
                        </a:rPr>
                        <a:t>EGM</a:t>
                      </a:r>
                      <a:endParaRPr lang="en-ZA" sz="1000">
                        <a:effectLst/>
                        <a:latin typeface="Times New Roman" panose="02020603050405020304" pitchFamily="18" charset="0"/>
                        <a:ea typeface="Times New Roman" panose="02020603050405020304" pitchFamily="18" charset="0"/>
                      </a:endParaRPr>
                    </a:p>
                  </a:txBody>
                  <a:tcPr marL="44450" marR="44450" marT="0" marB="0"/>
                </a:tc>
                <a:tc>
                  <a:txBody>
                    <a:bodyPr/>
                    <a:lstStyle/>
                    <a:p>
                      <a:pPr indent="144145" algn="just" hangingPunct="0">
                        <a:lnSpc>
                          <a:spcPts val="1200"/>
                        </a:lnSpc>
                        <a:buNone/>
                      </a:pPr>
                      <a:r>
                        <a:rPr lang="en-US" sz="1000">
                          <a:effectLst/>
                        </a:rPr>
                        <a:t>TabNet</a:t>
                      </a:r>
                      <a:endParaRPr lang="en-ZA" sz="1000">
                        <a:effectLst/>
                        <a:latin typeface="Times New Roman" panose="02020603050405020304" pitchFamily="18" charset="0"/>
                        <a:ea typeface="Times New Roman" panose="02020603050405020304" pitchFamily="18" charset="0"/>
                      </a:endParaRPr>
                    </a:p>
                  </a:txBody>
                  <a:tcPr marL="44450" marR="44450" marT="0" marB="0"/>
                </a:tc>
                <a:extLst>
                  <a:ext uri="{0D108BD9-81ED-4DB2-BD59-A6C34878D82A}">
                    <a16:rowId xmlns:a16="http://schemas.microsoft.com/office/drawing/2014/main" val="3527779921"/>
                  </a:ext>
                </a:extLst>
              </a:tr>
              <a:tr h="276339">
                <a:tc>
                  <a:txBody>
                    <a:bodyPr/>
                    <a:lstStyle/>
                    <a:p>
                      <a:pPr indent="144145" algn="l" hangingPunct="0">
                        <a:lnSpc>
                          <a:spcPts val="1200"/>
                        </a:lnSpc>
                        <a:buNone/>
                      </a:pPr>
                      <a:r>
                        <a:rPr lang="en-US" sz="1000">
                          <a:effectLst/>
                        </a:rPr>
                        <a:t>Infant Mortality Rate</a:t>
                      </a:r>
                      <a:endParaRPr lang="en-ZA" sz="1000">
                        <a:effectLst/>
                        <a:latin typeface="Times New Roman" panose="02020603050405020304" pitchFamily="18" charset="0"/>
                        <a:ea typeface="Times New Roman" panose="02020603050405020304" pitchFamily="18" charset="0"/>
                      </a:endParaRPr>
                    </a:p>
                  </a:txBody>
                  <a:tcPr marL="44450" marR="44450" marT="0" marB="0"/>
                </a:tc>
                <a:tc>
                  <a:txBody>
                    <a:bodyPr/>
                    <a:lstStyle/>
                    <a:p>
                      <a:pPr indent="144145" algn="just" hangingPunct="0">
                        <a:lnSpc>
                          <a:spcPts val="1200"/>
                        </a:lnSpc>
                        <a:buNone/>
                      </a:pPr>
                      <a:r>
                        <a:rPr lang="en-US" sz="1000">
                          <a:effectLst/>
                        </a:rPr>
                        <a:t>0.054</a:t>
                      </a:r>
                      <a:endParaRPr lang="en-ZA" sz="1000">
                        <a:effectLst/>
                        <a:latin typeface="Times New Roman" panose="02020603050405020304" pitchFamily="18" charset="0"/>
                        <a:ea typeface="Times New Roman" panose="02020603050405020304" pitchFamily="18" charset="0"/>
                      </a:endParaRPr>
                    </a:p>
                  </a:txBody>
                  <a:tcPr marL="44450" marR="44450" marT="0" marB="0"/>
                </a:tc>
                <a:tc>
                  <a:txBody>
                    <a:bodyPr/>
                    <a:lstStyle/>
                    <a:p>
                      <a:pPr indent="144145" algn="just" hangingPunct="0">
                        <a:lnSpc>
                          <a:spcPts val="1200"/>
                        </a:lnSpc>
                        <a:buNone/>
                      </a:pPr>
                      <a:r>
                        <a:rPr lang="en-US" sz="1000">
                          <a:effectLst/>
                        </a:rPr>
                        <a:t>0.030</a:t>
                      </a:r>
                      <a:endParaRPr lang="en-ZA" sz="1000">
                        <a:effectLst/>
                        <a:latin typeface="Times New Roman" panose="02020603050405020304" pitchFamily="18" charset="0"/>
                        <a:ea typeface="Times New Roman" panose="02020603050405020304" pitchFamily="18" charset="0"/>
                      </a:endParaRPr>
                    </a:p>
                  </a:txBody>
                  <a:tcPr marL="44450" marR="44450" marT="0" marB="0"/>
                </a:tc>
                <a:tc>
                  <a:txBody>
                    <a:bodyPr/>
                    <a:lstStyle/>
                    <a:p>
                      <a:pPr indent="144145" algn="just" hangingPunct="0">
                        <a:lnSpc>
                          <a:spcPts val="1200"/>
                        </a:lnSpc>
                        <a:buNone/>
                      </a:pPr>
                      <a:r>
                        <a:rPr lang="en-US" sz="1000">
                          <a:effectLst/>
                        </a:rPr>
                        <a:t>0.004</a:t>
                      </a:r>
                      <a:endParaRPr lang="en-ZA" sz="1000">
                        <a:effectLst/>
                        <a:latin typeface="Times New Roman" panose="02020603050405020304" pitchFamily="18" charset="0"/>
                        <a:ea typeface="Times New Roman" panose="02020603050405020304" pitchFamily="18" charset="0"/>
                      </a:endParaRPr>
                    </a:p>
                  </a:txBody>
                  <a:tcPr marL="44450" marR="44450" marT="0" marB="0"/>
                </a:tc>
                <a:tc>
                  <a:txBody>
                    <a:bodyPr/>
                    <a:lstStyle/>
                    <a:p>
                      <a:pPr indent="144145" algn="just" hangingPunct="0">
                        <a:lnSpc>
                          <a:spcPts val="1200"/>
                        </a:lnSpc>
                        <a:buNone/>
                      </a:pPr>
                      <a:r>
                        <a:rPr lang="en-US" sz="1000">
                          <a:effectLst/>
                        </a:rPr>
                        <a:t>0.145</a:t>
                      </a:r>
                      <a:endParaRPr lang="en-ZA" sz="1000">
                        <a:effectLst/>
                        <a:latin typeface="Times New Roman" panose="02020603050405020304" pitchFamily="18" charset="0"/>
                        <a:ea typeface="Times New Roman" panose="02020603050405020304" pitchFamily="18" charset="0"/>
                      </a:endParaRPr>
                    </a:p>
                  </a:txBody>
                  <a:tcPr marL="44450" marR="44450" marT="0" marB="0"/>
                </a:tc>
                <a:extLst>
                  <a:ext uri="{0D108BD9-81ED-4DB2-BD59-A6C34878D82A}">
                    <a16:rowId xmlns:a16="http://schemas.microsoft.com/office/drawing/2014/main" val="3108639973"/>
                  </a:ext>
                </a:extLst>
              </a:tr>
              <a:tr h="276339">
                <a:tc>
                  <a:txBody>
                    <a:bodyPr/>
                    <a:lstStyle/>
                    <a:p>
                      <a:pPr indent="144145" algn="l" hangingPunct="0">
                        <a:lnSpc>
                          <a:spcPts val="1200"/>
                        </a:lnSpc>
                        <a:buNone/>
                      </a:pPr>
                      <a:r>
                        <a:rPr lang="en-US" sz="1000">
                          <a:effectLst/>
                        </a:rPr>
                        <a:t>Turbidity (NTU)</a:t>
                      </a:r>
                      <a:endParaRPr lang="en-ZA" sz="1000">
                        <a:effectLst/>
                        <a:latin typeface="Times New Roman" panose="02020603050405020304" pitchFamily="18" charset="0"/>
                        <a:ea typeface="Times New Roman" panose="02020603050405020304" pitchFamily="18" charset="0"/>
                      </a:endParaRPr>
                    </a:p>
                  </a:txBody>
                  <a:tcPr marL="44450" marR="44450" marT="0" marB="0"/>
                </a:tc>
                <a:tc>
                  <a:txBody>
                    <a:bodyPr/>
                    <a:lstStyle/>
                    <a:p>
                      <a:pPr indent="144145" algn="just" hangingPunct="0">
                        <a:lnSpc>
                          <a:spcPts val="1200"/>
                        </a:lnSpc>
                        <a:buNone/>
                      </a:pPr>
                      <a:r>
                        <a:rPr lang="en-US" sz="1000">
                          <a:effectLst/>
                        </a:rPr>
                        <a:t>0.048</a:t>
                      </a:r>
                      <a:endParaRPr lang="en-ZA" sz="1000">
                        <a:effectLst/>
                        <a:latin typeface="Times New Roman" panose="02020603050405020304" pitchFamily="18" charset="0"/>
                        <a:ea typeface="Times New Roman" panose="02020603050405020304" pitchFamily="18" charset="0"/>
                      </a:endParaRPr>
                    </a:p>
                  </a:txBody>
                  <a:tcPr marL="44450" marR="44450" marT="0" marB="0"/>
                </a:tc>
                <a:tc>
                  <a:txBody>
                    <a:bodyPr/>
                    <a:lstStyle/>
                    <a:p>
                      <a:pPr indent="144145" algn="just" hangingPunct="0">
                        <a:lnSpc>
                          <a:spcPts val="1200"/>
                        </a:lnSpc>
                        <a:buNone/>
                      </a:pPr>
                      <a:r>
                        <a:rPr lang="en-US" sz="1000">
                          <a:effectLst/>
                        </a:rPr>
                        <a:t>0.021</a:t>
                      </a:r>
                      <a:endParaRPr lang="en-ZA" sz="1000">
                        <a:effectLst/>
                        <a:latin typeface="Times New Roman" panose="02020603050405020304" pitchFamily="18" charset="0"/>
                        <a:ea typeface="Times New Roman" panose="02020603050405020304" pitchFamily="18" charset="0"/>
                      </a:endParaRPr>
                    </a:p>
                  </a:txBody>
                  <a:tcPr marL="44450" marR="44450" marT="0" marB="0"/>
                </a:tc>
                <a:tc>
                  <a:txBody>
                    <a:bodyPr/>
                    <a:lstStyle/>
                    <a:p>
                      <a:pPr indent="144145" algn="just" hangingPunct="0">
                        <a:lnSpc>
                          <a:spcPts val="1200"/>
                        </a:lnSpc>
                        <a:buNone/>
                      </a:pPr>
                      <a:r>
                        <a:rPr lang="en-US" sz="1000">
                          <a:effectLst/>
                        </a:rPr>
                        <a:t>0.013</a:t>
                      </a:r>
                      <a:endParaRPr lang="en-ZA" sz="1000">
                        <a:effectLst/>
                        <a:latin typeface="Times New Roman" panose="02020603050405020304" pitchFamily="18" charset="0"/>
                        <a:ea typeface="Times New Roman" panose="02020603050405020304" pitchFamily="18" charset="0"/>
                      </a:endParaRPr>
                    </a:p>
                  </a:txBody>
                  <a:tcPr marL="44450" marR="44450" marT="0" marB="0"/>
                </a:tc>
                <a:tc>
                  <a:txBody>
                    <a:bodyPr/>
                    <a:lstStyle/>
                    <a:p>
                      <a:pPr indent="144145" algn="just" hangingPunct="0">
                        <a:lnSpc>
                          <a:spcPts val="1200"/>
                        </a:lnSpc>
                        <a:buNone/>
                      </a:pPr>
                      <a:r>
                        <a:rPr lang="en-US" sz="1000">
                          <a:effectLst/>
                        </a:rPr>
                        <a:t>0.094</a:t>
                      </a:r>
                      <a:endParaRPr lang="en-ZA" sz="1000">
                        <a:effectLst/>
                        <a:latin typeface="Times New Roman" panose="02020603050405020304" pitchFamily="18" charset="0"/>
                        <a:ea typeface="Times New Roman" panose="02020603050405020304" pitchFamily="18" charset="0"/>
                      </a:endParaRPr>
                    </a:p>
                  </a:txBody>
                  <a:tcPr marL="44450" marR="44450" marT="0" marB="0"/>
                </a:tc>
                <a:extLst>
                  <a:ext uri="{0D108BD9-81ED-4DB2-BD59-A6C34878D82A}">
                    <a16:rowId xmlns:a16="http://schemas.microsoft.com/office/drawing/2014/main" val="3809137355"/>
                  </a:ext>
                </a:extLst>
              </a:tr>
              <a:tr h="467052">
                <a:tc>
                  <a:txBody>
                    <a:bodyPr/>
                    <a:lstStyle/>
                    <a:p>
                      <a:pPr indent="144145" algn="l" hangingPunct="0">
                        <a:lnSpc>
                          <a:spcPts val="1200"/>
                        </a:lnSpc>
                        <a:buNone/>
                      </a:pPr>
                      <a:r>
                        <a:rPr lang="en-US" sz="1000">
                          <a:effectLst/>
                        </a:rPr>
                        <a:t>Water Treatment Method_Filtration</a:t>
                      </a:r>
                      <a:endParaRPr lang="en-ZA" sz="1000">
                        <a:effectLst/>
                        <a:latin typeface="Times New Roman" panose="02020603050405020304" pitchFamily="18" charset="0"/>
                        <a:ea typeface="Times New Roman" panose="02020603050405020304" pitchFamily="18" charset="0"/>
                      </a:endParaRPr>
                    </a:p>
                  </a:txBody>
                  <a:tcPr marL="44450" marR="44450" marT="0" marB="0"/>
                </a:tc>
                <a:tc>
                  <a:txBody>
                    <a:bodyPr/>
                    <a:lstStyle/>
                    <a:p>
                      <a:pPr indent="144145" algn="just" hangingPunct="0">
                        <a:lnSpc>
                          <a:spcPts val="1200"/>
                        </a:lnSpc>
                        <a:buNone/>
                      </a:pPr>
                      <a:r>
                        <a:rPr lang="en-US" sz="1000">
                          <a:effectLst/>
                        </a:rPr>
                        <a:t>0.005</a:t>
                      </a:r>
                      <a:endParaRPr lang="en-ZA" sz="1000">
                        <a:effectLst/>
                        <a:latin typeface="Times New Roman" panose="02020603050405020304" pitchFamily="18" charset="0"/>
                        <a:ea typeface="Times New Roman" panose="02020603050405020304" pitchFamily="18" charset="0"/>
                      </a:endParaRPr>
                    </a:p>
                  </a:txBody>
                  <a:tcPr marL="44450" marR="44450" marT="0" marB="0"/>
                </a:tc>
                <a:tc>
                  <a:txBody>
                    <a:bodyPr/>
                    <a:lstStyle/>
                    <a:p>
                      <a:pPr indent="144145" algn="just" hangingPunct="0">
                        <a:lnSpc>
                          <a:spcPts val="1200"/>
                        </a:lnSpc>
                        <a:buNone/>
                      </a:pPr>
                      <a:r>
                        <a:rPr lang="en-US" sz="1000" dirty="0">
                          <a:effectLst/>
                        </a:rPr>
                        <a:t>0.0184</a:t>
                      </a:r>
                      <a:endParaRPr lang="en-ZA" sz="1000" dirty="0">
                        <a:effectLst/>
                        <a:latin typeface="Times New Roman" panose="02020603050405020304" pitchFamily="18" charset="0"/>
                        <a:ea typeface="Times New Roman" panose="02020603050405020304" pitchFamily="18" charset="0"/>
                      </a:endParaRPr>
                    </a:p>
                  </a:txBody>
                  <a:tcPr marL="44450" marR="44450" marT="0" marB="0"/>
                </a:tc>
                <a:tc>
                  <a:txBody>
                    <a:bodyPr/>
                    <a:lstStyle/>
                    <a:p>
                      <a:pPr indent="144145" algn="just" hangingPunct="0">
                        <a:lnSpc>
                          <a:spcPts val="1200"/>
                        </a:lnSpc>
                        <a:buNone/>
                      </a:pPr>
                      <a:r>
                        <a:rPr lang="en-US" sz="1000">
                          <a:effectLst/>
                        </a:rPr>
                        <a:t>0.000</a:t>
                      </a:r>
                      <a:endParaRPr lang="en-ZA" sz="1000">
                        <a:effectLst/>
                        <a:latin typeface="Times New Roman" panose="02020603050405020304" pitchFamily="18" charset="0"/>
                        <a:ea typeface="Times New Roman" panose="02020603050405020304" pitchFamily="18" charset="0"/>
                      </a:endParaRPr>
                    </a:p>
                  </a:txBody>
                  <a:tcPr marL="44450" marR="44450" marT="0" marB="0"/>
                </a:tc>
                <a:tc>
                  <a:txBody>
                    <a:bodyPr/>
                    <a:lstStyle/>
                    <a:p>
                      <a:pPr indent="144145" algn="just" hangingPunct="0">
                        <a:lnSpc>
                          <a:spcPts val="1200"/>
                        </a:lnSpc>
                        <a:buNone/>
                      </a:pPr>
                      <a:r>
                        <a:rPr lang="en-US" sz="1000">
                          <a:effectLst/>
                        </a:rPr>
                        <a:t>0.0129</a:t>
                      </a:r>
                      <a:endParaRPr lang="en-ZA" sz="1000">
                        <a:effectLst/>
                        <a:latin typeface="Times New Roman" panose="02020603050405020304" pitchFamily="18" charset="0"/>
                        <a:ea typeface="Times New Roman" panose="02020603050405020304" pitchFamily="18" charset="0"/>
                      </a:endParaRPr>
                    </a:p>
                  </a:txBody>
                  <a:tcPr marL="44450" marR="44450" marT="0" marB="0"/>
                </a:tc>
                <a:extLst>
                  <a:ext uri="{0D108BD9-81ED-4DB2-BD59-A6C34878D82A}">
                    <a16:rowId xmlns:a16="http://schemas.microsoft.com/office/drawing/2014/main" val="3272713309"/>
                  </a:ext>
                </a:extLst>
              </a:tr>
              <a:tr h="276339">
                <a:tc>
                  <a:txBody>
                    <a:bodyPr/>
                    <a:lstStyle/>
                    <a:p>
                      <a:pPr indent="144145" algn="l" hangingPunct="0">
                        <a:lnSpc>
                          <a:spcPts val="1200"/>
                        </a:lnSpc>
                        <a:buNone/>
                      </a:pPr>
                      <a:r>
                        <a:rPr lang="en-US" sz="1000">
                          <a:effectLst/>
                        </a:rPr>
                        <a:t>Water Source Type_Spring</a:t>
                      </a:r>
                      <a:endParaRPr lang="en-ZA" sz="1000">
                        <a:effectLst/>
                        <a:latin typeface="Times New Roman" panose="02020603050405020304" pitchFamily="18" charset="0"/>
                        <a:ea typeface="Times New Roman" panose="02020603050405020304" pitchFamily="18" charset="0"/>
                      </a:endParaRPr>
                    </a:p>
                  </a:txBody>
                  <a:tcPr marL="44450" marR="44450" marT="0" marB="0"/>
                </a:tc>
                <a:tc>
                  <a:txBody>
                    <a:bodyPr/>
                    <a:lstStyle/>
                    <a:p>
                      <a:pPr indent="144145" algn="just" hangingPunct="0">
                        <a:lnSpc>
                          <a:spcPts val="1200"/>
                        </a:lnSpc>
                        <a:buNone/>
                      </a:pPr>
                      <a:r>
                        <a:rPr lang="en-US" sz="1000">
                          <a:effectLst/>
                        </a:rPr>
                        <a:t>0.005</a:t>
                      </a:r>
                      <a:endParaRPr lang="en-ZA" sz="1000">
                        <a:effectLst/>
                        <a:latin typeface="Times New Roman" panose="02020603050405020304" pitchFamily="18" charset="0"/>
                        <a:ea typeface="Times New Roman" panose="02020603050405020304" pitchFamily="18" charset="0"/>
                      </a:endParaRPr>
                    </a:p>
                  </a:txBody>
                  <a:tcPr marL="44450" marR="44450" marT="0" marB="0"/>
                </a:tc>
                <a:tc>
                  <a:txBody>
                    <a:bodyPr/>
                    <a:lstStyle/>
                    <a:p>
                      <a:pPr indent="144145" algn="just" hangingPunct="0">
                        <a:lnSpc>
                          <a:spcPts val="1200"/>
                        </a:lnSpc>
                        <a:buNone/>
                      </a:pPr>
                      <a:r>
                        <a:rPr lang="en-US" sz="1000">
                          <a:effectLst/>
                        </a:rPr>
                        <a:t>0.040</a:t>
                      </a:r>
                      <a:endParaRPr lang="en-ZA" sz="1000">
                        <a:effectLst/>
                        <a:latin typeface="Times New Roman" panose="02020603050405020304" pitchFamily="18" charset="0"/>
                        <a:ea typeface="Times New Roman" panose="02020603050405020304" pitchFamily="18" charset="0"/>
                      </a:endParaRPr>
                    </a:p>
                  </a:txBody>
                  <a:tcPr marL="44450" marR="44450" marT="0" marB="0"/>
                </a:tc>
                <a:tc>
                  <a:txBody>
                    <a:bodyPr/>
                    <a:lstStyle/>
                    <a:p>
                      <a:pPr indent="144145" algn="just" hangingPunct="0">
                        <a:lnSpc>
                          <a:spcPts val="1200"/>
                        </a:lnSpc>
                        <a:buNone/>
                      </a:pPr>
                      <a:r>
                        <a:rPr lang="en-US" sz="1000">
                          <a:effectLst/>
                        </a:rPr>
                        <a:t>0.019</a:t>
                      </a:r>
                      <a:endParaRPr lang="en-ZA" sz="1000">
                        <a:effectLst/>
                        <a:latin typeface="Times New Roman" panose="02020603050405020304" pitchFamily="18" charset="0"/>
                        <a:ea typeface="Times New Roman" panose="02020603050405020304" pitchFamily="18" charset="0"/>
                      </a:endParaRPr>
                    </a:p>
                  </a:txBody>
                  <a:tcPr marL="44450" marR="44450" marT="0" marB="0"/>
                </a:tc>
                <a:tc>
                  <a:txBody>
                    <a:bodyPr/>
                    <a:lstStyle/>
                    <a:p>
                      <a:pPr indent="144145" algn="just" hangingPunct="0">
                        <a:lnSpc>
                          <a:spcPts val="1200"/>
                        </a:lnSpc>
                        <a:buNone/>
                      </a:pPr>
                      <a:r>
                        <a:rPr lang="en-US" sz="1000">
                          <a:effectLst/>
                        </a:rPr>
                        <a:t>0.080</a:t>
                      </a:r>
                      <a:endParaRPr lang="en-ZA" sz="1000">
                        <a:effectLst/>
                        <a:latin typeface="Times New Roman" panose="02020603050405020304" pitchFamily="18" charset="0"/>
                        <a:ea typeface="Times New Roman" panose="02020603050405020304" pitchFamily="18" charset="0"/>
                      </a:endParaRPr>
                    </a:p>
                  </a:txBody>
                  <a:tcPr marL="44450" marR="44450" marT="0" marB="0"/>
                </a:tc>
                <a:extLst>
                  <a:ext uri="{0D108BD9-81ED-4DB2-BD59-A6C34878D82A}">
                    <a16:rowId xmlns:a16="http://schemas.microsoft.com/office/drawing/2014/main" val="4287496587"/>
                  </a:ext>
                </a:extLst>
              </a:tr>
              <a:tr h="467052">
                <a:tc>
                  <a:txBody>
                    <a:bodyPr/>
                    <a:lstStyle/>
                    <a:p>
                      <a:pPr indent="144145" algn="l" hangingPunct="0">
                        <a:lnSpc>
                          <a:spcPts val="1200"/>
                        </a:lnSpc>
                        <a:buNone/>
                      </a:pPr>
                      <a:r>
                        <a:rPr lang="en-US" sz="1000">
                          <a:effectLst/>
                        </a:rPr>
                        <a:t>Healthcare Access Index (0 - 100)</a:t>
                      </a:r>
                      <a:endParaRPr lang="en-ZA" sz="1000">
                        <a:effectLst/>
                        <a:latin typeface="Times New Roman" panose="02020603050405020304" pitchFamily="18" charset="0"/>
                        <a:ea typeface="Times New Roman" panose="02020603050405020304" pitchFamily="18" charset="0"/>
                      </a:endParaRPr>
                    </a:p>
                  </a:txBody>
                  <a:tcPr marL="44450" marR="44450" marT="0" marB="0"/>
                </a:tc>
                <a:tc>
                  <a:txBody>
                    <a:bodyPr/>
                    <a:lstStyle/>
                    <a:p>
                      <a:pPr indent="144145" algn="just" hangingPunct="0">
                        <a:lnSpc>
                          <a:spcPts val="1200"/>
                        </a:lnSpc>
                        <a:buNone/>
                      </a:pPr>
                      <a:r>
                        <a:rPr lang="en-US" sz="1000">
                          <a:effectLst/>
                        </a:rPr>
                        <a:t>0.003</a:t>
                      </a:r>
                      <a:endParaRPr lang="en-ZA" sz="1000">
                        <a:effectLst/>
                        <a:latin typeface="Times New Roman" panose="02020603050405020304" pitchFamily="18" charset="0"/>
                        <a:ea typeface="Times New Roman" panose="02020603050405020304" pitchFamily="18" charset="0"/>
                      </a:endParaRPr>
                    </a:p>
                  </a:txBody>
                  <a:tcPr marL="44450" marR="44450" marT="0" marB="0"/>
                </a:tc>
                <a:tc>
                  <a:txBody>
                    <a:bodyPr/>
                    <a:lstStyle/>
                    <a:p>
                      <a:pPr indent="144145" algn="just" hangingPunct="0">
                        <a:lnSpc>
                          <a:spcPts val="1200"/>
                        </a:lnSpc>
                        <a:buNone/>
                      </a:pPr>
                      <a:r>
                        <a:rPr lang="en-US" sz="1000">
                          <a:effectLst/>
                        </a:rPr>
                        <a:t>0.017</a:t>
                      </a:r>
                      <a:endParaRPr lang="en-ZA" sz="1000">
                        <a:effectLst/>
                        <a:latin typeface="Times New Roman" panose="02020603050405020304" pitchFamily="18" charset="0"/>
                        <a:ea typeface="Times New Roman" panose="02020603050405020304" pitchFamily="18" charset="0"/>
                      </a:endParaRPr>
                    </a:p>
                  </a:txBody>
                  <a:tcPr marL="44450" marR="44450" marT="0" marB="0"/>
                </a:tc>
                <a:tc>
                  <a:txBody>
                    <a:bodyPr/>
                    <a:lstStyle/>
                    <a:p>
                      <a:pPr indent="144145" algn="just" hangingPunct="0">
                        <a:lnSpc>
                          <a:spcPts val="1200"/>
                        </a:lnSpc>
                        <a:buNone/>
                      </a:pPr>
                      <a:r>
                        <a:rPr lang="en-US" sz="1000">
                          <a:effectLst/>
                        </a:rPr>
                        <a:t>0.004</a:t>
                      </a:r>
                      <a:endParaRPr lang="en-ZA" sz="1000">
                        <a:effectLst/>
                        <a:latin typeface="Times New Roman" panose="02020603050405020304" pitchFamily="18" charset="0"/>
                        <a:ea typeface="Times New Roman" panose="02020603050405020304" pitchFamily="18" charset="0"/>
                      </a:endParaRPr>
                    </a:p>
                  </a:txBody>
                  <a:tcPr marL="44450" marR="44450" marT="0" marB="0"/>
                </a:tc>
                <a:tc>
                  <a:txBody>
                    <a:bodyPr/>
                    <a:lstStyle/>
                    <a:p>
                      <a:pPr indent="144145" algn="just" hangingPunct="0">
                        <a:lnSpc>
                          <a:spcPts val="1200"/>
                        </a:lnSpc>
                        <a:buNone/>
                      </a:pPr>
                      <a:r>
                        <a:rPr lang="en-US" sz="1000">
                          <a:effectLst/>
                        </a:rPr>
                        <a:t>0.111</a:t>
                      </a:r>
                      <a:endParaRPr lang="en-ZA" sz="1000">
                        <a:effectLst/>
                        <a:latin typeface="Times New Roman" panose="02020603050405020304" pitchFamily="18" charset="0"/>
                        <a:ea typeface="Times New Roman" panose="02020603050405020304" pitchFamily="18" charset="0"/>
                      </a:endParaRPr>
                    </a:p>
                  </a:txBody>
                  <a:tcPr marL="44450" marR="44450" marT="0" marB="0"/>
                </a:tc>
                <a:extLst>
                  <a:ext uri="{0D108BD9-81ED-4DB2-BD59-A6C34878D82A}">
                    <a16:rowId xmlns:a16="http://schemas.microsoft.com/office/drawing/2014/main" val="3821185033"/>
                  </a:ext>
                </a:extLst>
              </a:tr>
              <a:tr h="276339">
                <a:tc>
                  <a:txBody>
                    <a:bodyPr/>
                    <a:lstStyle/>
                    <a:p>
                      <a:pPr indent="144145" algn="l" hangingPunct="0">
                        <a:lnSpc>
                          <a:spcPts val="1200"/>
                        </a:lnSpc>
                        <a:buNone/>
                      </a:pPr>
                      <a:r>
                        <a:rPr lang="en-US" sz="1000">
                          <a:effectLst/>
                        </a:rPr>
                        <a:t>Contaminant Level (ppm)</a:t>
                      </a:r>
                      <a:endParaRPr lang="en-ZA" sz="1000">
                        <a:effectLst/>
                        <a:latin typeface="Times New Roman" panose="02020603050405020304" pitchFamily="18" charset="0"/>
                        <a:ea typeface="Times New Roman" panose="02020603050405020304" pitchFamily="18" charset="0"/>
                      </a:endParaRPr>
                    </a:p>
                  </a:txBody>
                  <a:tcPr marL="44450" marR="44450" marT="0" marB="0"/>
                </a:tc>
                <a:tc>
                  <a:txBody>
                    <a:bodyPr/>
                    <a:lstStyle/>
                    <a:p>
                      <a:pPr indent="144145" algn="just" hangingPunct="0">
                        <a:lnSpc>
                          <a:spcPts val="1200"/>
                        </a:lnSpc>
                        <a:buNone/>
                      </a:pPr>
                      <a:r>
                        <a:rPr lang="en-US" sz="1000">
                          <a:effectLst/>
                        </a:rPr>
                        <a:t>0.054</a:t>
                      </a:r>
                      <a:endParaRPr lang="en-ZA" sz="1000">
                        <a:effectLst/>
                        <a:latin typeface="Times New Roman" panose="02020603050405020304" pitchFamily="18" charset="0"/>
                        <a:ea typeface="Times New Roman" panose="02020603050405020304" pitchFamily="18" charset="0"/>
                      </a:endParaRPr>
                    </a:p>
                  </a:txBody>
                  <a:tcPr marL="44450" marR="44450" marT="0" marB="0"/>
                </a:tc>
                <a:tc>
                  <a:txBody>
                    <a:bodyPr/>
                    <a:lstStyle/>
                    <a:p>
                      <a:pPr indent="144145" algn="just" hangingPunct="0">
                        <a:lnSpc>
                          <a:spcPts val="1200"/>
                        </a:lnSpc>
                        <a:buNone/>
                      </a:pPr>
                      <a:r>
                        <a:rPr lang="en-US" sz="1000">
                          <a:effectLst/>
                        </a:rPr>
                        <a:t>0.020</a:t>
                      </a:r>
                      <a:endParaRPr lang="en-ZA" sz="1000">
                        <a:effectLst/>
                        <a:latin typeface="Times New Roman" panose="02020603050405020304" pitchFamily="18" charset="0"/>
                        <a:ea typeface="Times New Roman" panose="02020603050405020304" pitchFamily="18" charset="0"/>
                      </a:endParaRPr>
                    </a:p>
                  </a:txBody>
                  <a:tcPr marL="44450" marR="44450" marT="0" marB="0"/>
                </a:tc>
                <a:tc>
                  <a:txBody>
                    <a:bodyPr/>
                    <a:lstStyle/>
                    <a:p>
                      <a:pPr indent="144145" algn="just" hangingPunct="0">
                        <a:lnSpc>
                          <a:spcPts val="1200"/>
                        </a:lnSpc>
                        <a:buNone/>
                      </a:pPr>
                      <a:r>
                        <a:rPr lang="en-US" sz="1000">
                          <a:effectLst/>
                        </a:rPr>
                        <a:t>0.011</a:t>
                      </a:r>
                      <a:endParaRPr lang="en-ZA" sz="1000">
                        <a:effectLst/>
                        <a:latin typeface="Times New Roman" panose="02020603050405020304" pitchFamily="18" charset="0"/>
                        <a:ea typeface="Times New Roman" panose="02020603050405020304" pitchFamily="18" charset="0"/>
                      </a:endParaRPr>
                    </a:p>
                  </a:txBody>
                  <a:tcPr marL="44450" marR="44450" marT="0" marB="0"/>
                </a:tc>
                <a:tc>
                  <a:txBody>
                    <a:bodyPr/>
                    <a:lstStyle/>
                    <a:p>
                      <a:pPr indent="144145" algn="just" hangingPunct="0">
                        <a:lnSpc>
                          <a:spcPts val="1200"/>
                        </a:lnSpc>
                        <a:buNone/>
                      </a:pPr>
                      <a:r>
                        <a:rPr lang="en-US" sz="1000" dirty="0">
                          <a:effectLst/>
                        </a:rPr>
                        <a:t>0.025</a:t>
                      </a:r>
                      <a:endParaRPr lang="en-ZA" sz="1000" dirty="0">
                        <a:effectLst/>
                        <a:latin typeface="Times New Roman" panose="02020603050405020304" pitchFamily="18" charset="0"/>
                        <a:ea typeface="Times New Roman" panose="02020603050405020304" pitchFamily="18" charset="0"/>
                      </a:endParaRPr>
                    </a:p>
                  </a:txBody>
                  <a:tcPr marL="44450" marR="44450" marT="0" marB="0"/>
                </a:tc>
                <a:extLst>
                  <a:ext uri="{0D108BD9-81ED-4DB2-BD59-A6C34878D82A}">
                    <a16:rowId xmlns:a16="http://schemas.microsoft.com/office/drawing/2014/main" val="2485580896"/>
                  </a:ext>
                </a:extLst>
              </a:tr>
            </a:tbl>
          </a:graphicData>
        </a:graphic>
      </p:graphicFrame>
      <p:pic>
        <p:nvPicPr>
          <p:cNvPr id="8" name="Picture 4" descr="Home | UWC">
            <a:extLst>
              <a:ext uri="{FF2B5EF4-FFF2-40B4-BE49-F238E27FC236}">
                <a16:creationId xmlns:a16="http://schemas.microsoft.com/office/drawing/2014/main" id="{C9D9B2D1-8049-B3A8-3661-2E18648225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60023" y="5900039"/>
            <a:ext cx="698714" cy="698714"/>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Stellenbosch University (SU)">
            <a:extLst>
              <a:ext uri="{FF2B5EF4-FFF2-40B4-BE49-F238E27FC236}">
                <a16:creationId xmlns:a16="http://schemas.microsoft.com/office/drawing/2014/main" id="{DE0E0CAB-4A4C-8F2B-E371-B0BA59FF61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47483" y="5973875"/>
            <a:ext cx="1414904" cy="5675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941056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4BB1A2-02E2-C665-3F55-B96B2F6448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8FD807-CD58-EF11-76BA-6764FB18300A}"/>
              </a:ext>
            </a:extLst>
          </p:cNvPr>
          <p:cNvSpPr>
            <a:spLocks noGrp="1"/>
          </p:cNvSpPr>
          <p:nvPr>
            <p:ph type="title"/>
          </p:nvPr>
        </p:nvSpPr>
        <p:spPr>
          <a:xfrm>
            <a:off x="838200" y="201223"/>
            <a:ext cx="8265160" cy="925195"/>
          </a:xfrm>
        </p:spPr>
        <p:txBody>
          <a:bodyPr>
            <a:normAutofit/>
          </a:bodyPr>
          <a:lstStyle/>
          <a:p>
            <a:r>
              <a:rPr lang="en-ZA" sz="3200" dirty="0"/>
              <a:t>Results – Feature Importance</a:t>
            </a:r>
          </a:p>
        </p:txBody>
      </p:sp>
      <p:sp>
        <p:nvSpPr>
          <p:cNvPr id="7" name="TextBox 6">
            <a:extLst>
              <a:ext uri="{FF2B5EF4-FFF2-40B4-BE49-F238E27FC236}">
                <a16:creationId xmlns:a16="http://schemas.microsoft.com/office/drawing/2014/main" id="{A51877FC-8C3F-98EE-48E4-4B949A627D65}"/>
              </a:ext>
            </a:extLst>
          </p:cNvPr>
          <p:cNvSpPr txBox="1"/>
          <p:nvPr/>
        </p:nvSpPr>
        <p:spPr>
          <a:xfrm>
            <a:off x="838200" y="1126418"/>
            <a:ext cx="7774858" cy="923330"/>
          </a:xfrm>
          <a:prstGeom prst="rect">
            <a:avLst/>
          </a:prstGeom>
          <a:noFill/>
        </p:spPr>
        <p:txBody>
          <a:bodyPr wrap="square" rtlCol="0">
            <a:spAutoFit/>
          </a:bodyPr>
          <a:lstStyle/>
          <a:p>
            <a:r>
              <a:rPr lang="en-US" dirty="0"/>
              <a:t>Figure 4 and subfigures A–D show model-specific top-10 predictors, highlighting distinct feature selection and weighting patterns across the four models.</a:t>
            </a:r>
            <a:endParaRPr lang="en-ZA" sz="1400" dirty="0"/>
          </a:p>
        </p:txBody>
      </p:sp>
      <p:pic>
        <p:nvPicPr>
          <p:cNvPr id="3" name="Picture 2">
            <a:extLst>
              <a:ext uri="{FF2B5EF4-FFF2-40B4-BE49-F238E27FC236}">
                <a16:creationId xmlns:a16="http://schemas.microsoft.com/office/drawing/2014/main" id="{900219A6-90FA-01E6-5A13-544405FBED1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52297" y="1952172"/>
            <a:ext cx="6746663" cy="4704605"/>
          </a:xfrm>
          <a:prstGeom prst="rect">
            <a:avLst/>
          </a:prstGeom>
        </p:spPr>
      </p:pic>
      <p:pic>
        <p:nvPicPr>
          <p:cNvPr id="4" name="Picture 4" descr="Home | UWC">
            <a:extLst>
              <a:ext uri="{FF2B5EF4-FFF2-40B4-BE49-F238E27FC236}">
                <a16:creationId xmlns:a16="http://schemas.microsoft.com/office/drawing/2014/main" id="{179BDF3F-5EE7-F2C8-48DE-7BFA6A0113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19390" y="5851912"/>
            <a:ext cx="698714" cy="698714"/>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descr="Stellenbosch University (SU)">
            <a:extLst>
              <a:ext uri="{FF2B5EF4-FFF2-40B4-BE49-F238E27FC236}">
                <a16:creationId xmlns:a16="http://schemas.microsoft.com/office/drawing/2014/main" id="{D6DEBBF5-71F5-3D18-3F04-7336E7A6124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306850" y="5925748"/>
            <a:ext cx="1414904" cy="5675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77512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797817-EA87-F3A0-BC47-CCE5432789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EF86A5-722A-7F8A-5BC4-978B513B4E97}"/>
              </a:ext>
            </a:extLst>
          </p:cNvPr>
          <p:cNvSpPr>
            <a:spLocks noGrp="1"/>
          </p:cNvSpPr>
          <p:nvPr>
            <p:ph type="title"/>
          </p:nvPr>
        </p:nvSpPr>
        <p:spPr>
          <a:xfrm>
            <a:off x="838200" y="365125"/>
            <a:ext cx="8265160" cy="925195"/>
          </a:xfrm>
        </p:spPr>
        <p:txBody>
          <a:bodyPr>
            <a:normAutofit/>
          </a:bodyPr>
          <a:lstStyle/>
          <a:p>
            <a:r>
              <a:rPr lang="en-ZA" sz="3200" dirty="0"/>
              <a:t>Results – Model Performance</a:t>
            </a:r>
          </a:p>
        </p:txBody>
      </p:sp>
      <p:sp>
        <p:nvSpPr>
          <p:cNvPr id="7" name="TextBox 6">
            <a:extLst>
              <a:ext uri="{FF2B5EF4-FFF2-40B4-BE49-F238E27FC236}">
                <a16:creationId xmlns:a16="http://schemas.microsoft.com/office/drawing/2014/main" id="{FC3B4843-BBE0-C001-13E6-9B58755126CB}"/>
              </a:ext>
            </a:extLst>
          </p:cNvPr>
          <p:cNvSpPr txBox="1"/>
          <p:nvPr/>
        </p:nvSpPr>
        <p:spPr>
          <a:xfrm>
            <a:off x="838200" y="1386348"/>
            <a:ext cx="7774858" cy="646331"/>
          </a:xfrm>
          <a:prstGeom prst="rect">
            <a:avLst/>
          </a:prstGeom>
          <a:noFill/>
        </p:spPr>
        <p:txBody>
          <a:bodyPr wrap="square" rtlCol="0">
            <a:spAutoFit/>
          </a:bodyPr>
          <a:lstStyle/>
          <a:p>
            <a:r>
              <a:rPr lang="en-ZA" dirty="0"/>
              <a:t>We employed four commonly used regression metrics to provide predictive accuracy and model fit.</a:t>
            </a:r>
          </a:p>
        </p:txBody>
      </p:sp>
      <p:graphicFrame>
        <p:nvGraphicFramePr>
          <p:cNvPr id="3" name="Table 2">
            <a:extLst>
              <a:ext uri="{FF2B5EF4-FFF2-40B4-BE49-F238E27FC236}">
                <a16:creationId xmlns:a16="http://schemas.microsoft.com/office/drawing/2014/main" id="{908A938E-A9CB-5861-0D03-585522365297}"/>
              </a:ext>
            </a:extLst>
          </p:cNvPr>
          <p:cNvGraphicFramePr>
            <a:graphicFrameLocks noGrp="1"/>
          </p:cNvGraphicFramePr>
          <p:nvPr/>
        </p:nvGraphicFramePr>
        <p:xfrm>
          <a:off x="1350009" y="2576988"/>
          <a:ext cx="6556764" cy="2308681"/>
        </p:xfrm>
        <a:graphic>
          <a:graphicData uri="http://schemas.openxmlformats.org/drawingml/2006/table">
            <a:tbl>
              <a:tblPr>
                <a:tableStyleId>{5C22544A-7EE6-4342-B048-85BDC9FD1C3A}</a:tableStyleId>
              </a:tblPr>
              <a:tblGrid>
                <a:gridCol w="1434265">
                  <a:extLst>
                    <a:ext uri="{9D8B030D-6E8A-4147-A177-3AD203B41FA5}">
                      <a16:colId xmlns:a16="http://schemas.microsoft.com/office/drawing/2014/main" val="1084021945"/>
                    </a:ext>
                  </a:extLst>
                </a:gridCol>
                <a:gridCol w="1449524">
                  <a:extLst>
                    <a:ext uri="{9D8B030D-6E8A-4147-A177-3AD203B41FA5}">
                      <a16:colId xmlns:a16="http://schemas.microsoft.com/office/drawing/2014/main" val="2164702881"/>
                    </a:ext>
                  </a:extLst>
                </a:gridCol>
                <a:gridCol w="1149447">
                  <a:extLst>
                    <a:ext uri="{9D8B030D-6E8A-4147-A177-3AD203B41FA5}">
                      <a16:colId xmlns:a16="http://schemas.microsoft.com/office/drawing/2014/main" val="3576636760"/>
                    </a:ext>
                  </a:extLst>
                </a:gridCol>
                <a:gridCol w="1202003">
                  <a:extLst>
                    <a:ext uri="{9D8B030D-6E8A-4147-A177-3AD203B41FA5}">
                      <a16:colId xmlns:a16="http://schemas.microsoft.com/office/drawing/2014/main" val="2390141672"/>
                    </a:ext>
                  </a:extLst>
                </a:gridCol>
                <a:gridCol w="1321525">
                  <a:extLst>
                    <a:ext uri="{9D8B030D-6E8A-4147-A177-3AD203B41FA5}">
                      <a16:colId xmlns:a16="http://schemas.microsoft.com/office/drawing/2014/main" val="410365875"/>
                    </a:ext>
                  </a:extLst>
                </a:gridCol>
              </a:tblGrid>
              <a:tr h="352470">
                <a:tc>
                  <a:txBody>
                    <a:bodyPr/>
                    <a:lstStyle/>
                    <a:p>
                      <a:pPr indent="144145" algn="l" hangingPunct="0">
                        <a:lnSpc>
                          <a:spcPts val="1200"/>
                        </a:lnSpc>
                        <a:buNone/>
                      </a:pPr>
                      <a:r>
                        <a:rPr lang="en-US" sz="1800">
                          <a:effectLst/>
                        </a:rPr>
                        <a:t>Model</a:t>
                      </a:r>
                      <a:endParaRPr lang="en-ZA" sz="1800">
                        <a:effectLst/>
                        <a:latin typeface="Times New Roman" panose="02020603050405020304" pitchFamily="18" charset="0"/>
                        <a:ea typeface="Times New Roman" panose="02020603050405020304" pitchFamily="18" charset="0"/>
                      </a:endParaRPr>
                    </a:p>
                  </a:txBody>
                  <a:tcPr marL="44450" marR="44450" marT="0" marB="0"/>
                </a:tc>
                <a:tc>
                  <a:txBody>
                    <a:bodyPr/>
                    <a:lstStyle/>
                    <a:p>
                      <a:pPr indent="144145" algn="just" hangingPunct="0">
                        <a:lnSpc>
                          <a:spcPts val="1200"/>
                        </a:lnSpc>
                        <a:buNone/>
                      </a:pPr>
                      <a:r>
                        <a:rPr lang="en-US" sz="1800">
                          <a:effectLst/>
                        </a:rPr>
                        <a:t>MAE</a:t>
                      </a:r>
                      <a:endParaRPr lang="en-ZA" sz="1800">
                        <a:effectLst/>
                        <a:latin typeface="Times New Roman" panose="02020603050405020304" pitchFamily="18" charset="0"/>
                        <a:ea typeface="Times New Roman" panose="02020603050405020304" pitchFamily="18" charset="0"/>
                      </a:endParaRPr>
                    </a:p>
                  </a:txBody>
                  <a:tcPr marL="44450" marR="44450" marT="0" marB="0"/>
                </a:tc>
                <a:tc>
                  <a:txBody>
                    <a:bodyPr/>
                    <a:lstStyle/>
                    <a:p>
                      <a:pPr indent="144145" algn="just" hangingPunct="0">
                        <a:lnSpc>
                          <a:spcPts val="1200"/>
                        </a:lnSpc>
                        <a:buNone/>
                      </a:pPr>
                      <a:r>
                        <a:rPr lang="en-US" sz="1800">
                          <a:effectLst/>
                        </a:rPr>
                        <a:t>MSE</a:t>
                      </a:r>
                      <a:endParaRPr lang="en-ZA" sz="1800">
                        <a:effectLst/>
                        <a:latin typeface="Times New Roman" panose="02020603050405020304" pitchFamily="18" charset="0"/>
                        <a:ea typeface="Times New Roman" panose="02020603050405020304" pitchFamily="18" charset="0"/>
                      </a:endParaRPr>
                    </a:p>
                  </a:txBody>
                  <a:tcPr marL="44450" marR="44450" marT="0" marB="0"/>
                </a:tc>
                <a:tc>
                  <a:txBody>
                    <a:bodyPr/>
                    <a:lstStyle/>
                    <a:p>
                      <a:pPr indent="144145" algn="just" hangingPunct="0">
                        <a:lnSpc>
                          <a:spcPts val="1200"/>
                        </a:lnSpc>
                        <a:buNone/>
                      </a:pPr>
                      <a:r>
                        <a:rPr lang="en-US" sz="1800">
                          <a:effectLst/>
                        </a:rPr>
                        <a:t>RMSE</a:t>
                      </a:r>
                      <a:endParaRPr lang="en-ZA" sz="1800">
                        <a:effectLst/>
                        <a:latin typeface="Times New Roman" panose="02020603050405020304" pitchFamily="18" charset="0"/>
                        <a:ea typeface="Times New Roman" panose="02020603050405020304" pitchFamily="18" charset="0"/>
                      </a:endParaRPr>
                    </a:p>
                  </a:txBody>
                  <a:tcPr marL="44450" marR="44450" marT="0" marB="0"/>
                </a:tc>
                <a:tc>
                  <a:txBody>
                    <a:bodyPr/>
                    <a:lstStyle/>
                    <a:p>
                      <a:pPr indent="144145" algn="just" hangingPunct="0">
                        <a:lnSpc>
                          <a:spcPts val="1200"/>
                        </a:lnSpc>
                        <a:buNone/>
                      </a:pPr>
                      <a:r>
                        <a:rPr lang="en-US" sz="1800">
                          <a:effectLst/>
                        </a:rPr>
                        <a:t>R</a:t>
                      </a:r>
                      <a:r>
                        <a:rPr lang="en-US" sz="1800" baseline="30000">
                          <a:effectLst/>
                        </a:rPr>
                        <a:t>2</a:t>
                      </a:r>
                      <a:endParaRPr lang="en-ZA" sz="1800">
                        <a:effectLst/>
                        <a:latin typeface="Times New Roman" panose="02020603050405020304" pitchFamily="18" charset="0"/>
                        <a:ea typeface="Times New Roman" panose="02020603050405020304" pitchFamily="18" charset="0"/>
                      </a:endParaRPr>
                    </a:p>
                  </a:txBody>
                  <a:tcPr marL="44450" marR="44450" marT="0" marB="0"/>
                </a:tc>
                <a:extLst>
                  <a:ext uri="{0D108BD9-81ED-4DB2-BD59-A6C34878D82A}">
                    <a16:rowId xmlns:a16="http://schemas.microsoft.com/office/drawing/2014/main" val="2346370970"/>
                  </a:ext>
                </a:extLst>
              </a:tr>
              <a:tr h="704941">
                <a:tc>
                  <a:txBody>
                    <a:bodyPr/>
                    <a:lstStyle/>
                    <a:p>
                      <a:pPr indent="144145" algn="l" hangingPunct="0">
                        <a:lnSpc>
                          <a:spcPts val="1200"/>
                        </a:lnSpc>
                        <a:buNone/>
                      </a:pPr>
                      <a:r>
                        <a:rPr lang="en-US" sz="1800">
                          <a:effectLst/>
                        </a:rPr>
                        <a:t>Random Forest</a:t>
                      </a:r>
                      <a:endParaRPr lang="en-ZA" sz="1800">
                        <a:effectLst/>
                        <a:latin typeface="Times New Roman" panose="02020603050405020304" pitchFamily="18" charset="0"/>
                        <a:ea typeface="Times New Roman" panose="02020603050405020304" pitchFamily="18" charset="0"/>
                      </a:endParaRPr>
                    </a:p>
                  </a:txBody>
                  <a:tcPr marL="44450" marR="44450" marT="0" marB="0" anchor="ctr"/>
                </a:tc>
                <a:tc>
                  <a:txBody>
                    <a:bodyPr/>
                    <a:lstStyle/>
                    <a:p>
                      <a:pPr indent="144145" algn="just" hangingPunct="0">
                        <a:lnSpc>
                          <a:spcPts val="1200"/>
                        </a:lnSpc>
                        <a:buNone/>
                      </a:pPr>
                      <a:r>
                        <a:rPr lang="en-US" sz="1800">
                          <a:effectLst/>
                        </a:rPr>
                        <a:t>12.39</a:t>
                      </a:r>
                      <a:endParaRPr lang="en-ZA" sz="1800">
                        <a:effectLst/>
                        <a:latin typeface="Times New Roman" panose="02020603050405020304" pitchFamily="18" charset="0"/>
                        <a:ea typeface="Times New Roman" panose="02020603050405020304" pitchFamily="18" charset="0"/>
                      </a:endParaRPr>
                    </a:p>
                  </a:txBody>
                  <a:tcPr marL="44450" marR="44450" marT="0" marB="0" anchor="ctr"/>
                </a:tc>
                <a:tc>
                  <a:txBody>
                    <a:bodyPr/>
                    <a:lstStyle/>
                    <a:p>
                      <a:pPr indent="144145" algn="just" hangingPunct="0">
                        <a:lnSpc>
                          <a:spcPts val="1200"/>
                        </a:lnSpc>
                        <a:buNone/>
                      </a:pPr>
                      <a:r>
                        <a:rPr lang="en-US" sz="1800">
                          <a:effectLst/>
                        </a:rPr>
                        <a:t>207.201</a:t>
                      </a:r>
                      <a:endParaRPr lang="en-ZA" sz="1800">
                        <a:effectLst/>
                        <a:latin typeface="Times New Roman" panose="02020603050405020304" pitchFamily="18" charset="0"/>
                        <a:ea typeface="Times New Roman" panose="02020603050405020304" pitchFamily="18" charset="0"/>
                      </a:endParaRPr>
                    </a:p>
                  </a:txBody>
                  <a:tcPr marL="44450" marR="44450" marT="0" marB="0" anchor="ctr"/>
                </a:tc>
                <a:tc>
                  <a:txBody>
                    <a:bodyPr/>
                    <a:lstStyle/>
                    <a:p>
                      <a:pPr indent="144145" algn="just" hangingPunct="0">
                        <a:lnSpc>
                          <a:spcPts val="1200"/>
                        </a:lnSpc>
                        <a:buNone/>
                      </a:pPr>
                      <a:r>
                        <a:rPr lang="en-US" sz="1800" dirty="0">
                          <a:effectLst/>
                        </a:rPr>
                        <a:t>14.394</a:t>
                      </a:r>
                      <a:endParaRPr lang="en-ZA" sz="1800" dirty="0">
                        <a:effectLst/>
                        <a:latin typeface="Times New Roman" panose="02020603050405020304" pitchFamily="18" charset="0"/>
                        <a:ea typeface="Times New Roman" panose="02020603050405020304" pitchFamily="18" charset="0"/>
                      </a:endParaRPr>
                    </a:p>
                  </a:txBody>
                  <a:tcPr marL="44450" marR="44450" marT="0" marB="0"/>
                </a:tc>
                <a:tc>
                  <a:txBody>
                    <a:bodyPr/>
                    <a:lstStyle/>
                    <a:p>
                      <a:pPr indent="144145" algn="just" hangingPunct="0">
                        <a:lnSpc>
                          <a:spcPts val="1200"/>
                        </a:lnSpc>
                        <a:buNone/>
                      </a:pPr>
                      <a:r>
                        <a:rPr lang="en-US" sz="1800">
                          <a:effectLst/>
                        </a:rPr>
                        <a:t>-0.006</a:t>
                      </a:r>
                      <a:endParaRPr lang="en-ZA" sz="1800">
                        <a:effectLst/>
                        <a:latin typeface="Times New Roman" panose="02020603050405020304" pitchFamily="18" charset="0"/>
                        <a:ea typeface="Times New Roman" panose="02020603050405020304" pitchFamily="18" charset="0"/>
                      </a:endParaRPr>
                    </a:p>
                  </a:txBody>
                  <a:tcPr marL="44450" marR="44450" marT="0" marB="0"/>
                </a:tc>
                <a:extLst>
                  <a:ext uri="{0D108BD9-81ED-4DB2-BD59-A6C34878D82A}">
                    <a16:rowId xmlns:a16="http://schemas.microsoft.com/office/drawing/2014/main" val="3970921975"/>
                  </a:ext>
                </a:extLst>
              </a:tr>
              <a:tr h="417090">
                <a:tc>
                  <a:txBody>
                    <a:bodyPr/>
                    <a:lstStyle/>
                    <a:p>
                      <a:pPr indent="144145" algn="l" hangingPunct="0">
                        <a:lnSpc>
                          <a:spcPts val="1200"/>
                        </a:lnSpc>
                        <a:buNone/>
                      </a:pPr>
                      <a:r>
                        <a:rPr lang="en-US" sz="1800">
                          <a:effectLst/>
                        </a:rPr>
                        <a:t>XGBoost</a:t>
                      </a:r>
                      <a:endParaRPr lang="en-ZA" sz="1800">
                        <a:effectLst/>
                        <a:latin typeface="Times New Roman" panose="02020603050405020304" pitchFamily="18" charset="0"/>
                        <a:ea typeface="Times New Roman" panose="02020603050405020304" pitchFamily="18" charset="0"/>
                      </a:endParaRPr>
                    </a:p>
                  </a:txBody>
                  <a:tcPr marL="44450" marR="44450" marT="0" marB="0" anchor="ctr"/>
                </a:tc>
                <a:tc>
                  <a:txBody>
                    <a:bodyPr/>
                    <a:lstStyle/>
                    <a:p>
                      <a:pPr indent="144145" algn="just" hangingPunct="0">
                        <a:lnSpc>
                          <a:spcPts val="1200"/>
                        </a:lnSpc>
                        <a:buNone/>
                      </a:pPr>
                      <a:r>
                        <a:rPr lang="en-US" sz="1800">
                          <a:effectLst/>
                        </a:rPr>
                        <a:t>13.094</a:t>
                      </a:r>
                      <a:endParaRPr lang="en-ZA" sz="1800">
                        <a:effectLst/>
                        <a:latin typeface="Times New Roman" panose="02020603050405020304" pitchFamily="18" charset="0"/>
                        <a:ea typeface="Times New Roman" panose="02020603050405020304" pitchFamily="18" charset="0"/>
                      </a:endParaRPr>
                    </a:p>
                  </a:txBody>
                  <a:tcPr marL="44450" marR="44450" marT="0" marB="0" anchor="ctr"/>
                </a:tc>
                <a:tc>
                  <a:txBody>
                    <a:bodyPr/>
                    <a:lstStyle/>
                    <a:p>
                      <a:pPr indent="144145" algn="just" hangingPunct="0">
                        <a:lnSpc>
                          <a:spcPts val="1200"/>
                        </a:lnSpc>
                        <a:buNone/>
                      </a:pPr>
                      <a:r>
                        <a:rPr lang="en-US" sz="1800">
                          <a:effectLst/>
                        </a:rPr>
                        <a:t>243.379</a:t>
                      </a:r>
                      <a:endParaRPr lang="en-ZA" sz="1800">
                        <a:effectLst/>
                        <a:latin typeface="Times New Roman" panose="02020603050405020304" pitchFamily="18" charset="0"/>
                        <a:ea typeface="Times New Roman" panose="02020603050405020304" pitchFamily="18" charset="0"/>
                      </a:endParaRPr>
                    </a:p>
                  </a:txBody>
                  <a:tcPr marL="44450" marR="44450" marT="0" marB="0" anchor="ctr"/>
                </a:tc>
                <a:tc>
                  <a:txBody>
                    <a:bodyPr/>
                    <a:lstStyle/>
                    <a:p>
                      <a:pPr indent="144145" algn="just" hangingPunct="0">
                        <a:lnSpc>
                          <a:spcPts val="1200"/>
                        </a:lnSpc>
                        <a:buNone/>
                      </a:pPr>
                      <a:r>
                        <a:rPr lang="en-US" sz="1800">
                          <a:effectLst/>
                        </a:rPr>
                        <a:t>15.601</a:t>
                      </a:r>
                      <a:endParaRPr lang="en-ZA" sz="1800">
                        <a:effectLst/>
                        <a:latin typeface="Times New Roman" panose="02020603050405020304" pitchFamily="18" charset="0"/>
                        <a:ea typeface="Times New Roman" panose="02020603050405020304" pitchFamily="18" charset="0"/>
                      </a:endParaRPr>
                    </a:p>
                  </a:txBody>
                  <a:tcPr marL="44450" marR="44450" marT="0" marB="0"/>
                </a:tc>
                <a:tc>
                  <a:txBody>
                    <a:bodyPr/>
                    <a:lstStyle/>
                    <a:p>
                      <a:pPr indent="144145" algn="just" hangingPunct="0">
                        <a:lnSpc>
                          <a:spcPts val="1200"/>
                        </a:lnSpc>
                        <a:buNone/>
                      </a:pPr>
                      <a:r>
                        <a:rPr lang="en-US" sz="1800">
                          <a:effectLst/>
                        </a:rPr>
                        <a:t>-0.182</a:t>
                      </a:r>
                      <a:endParaRPr lang="en-ZA" sz="1800">
                        <a:effectLst/>
                        <a:latin typeface="Times New Roman" panose="02020603050405020304" pitchFamily="18" charset="0"/>
                        <a:ea typeface="Times New Roman" panose="02020603050405020304" pitchFamily="18" charset="0"/>
                      </a:endParaRPr>
                    </a:p>
                  </a:txBody>
                  <a:tcPr marL="44450" marR="44450" marT="0" marB="0"/>
                </a:tc>
                <a:extLst>
                  <a:ext uri="{0D108BD9-81ED-4DB2-BD59-A6C34878D82A}">
                    <a16:rowId xmlns:a16="http://schemas.microsoft.com/office/drawing/2014/main" val="819534829"/>
                  </a:ext>
                </a:extLst>
              </a:tr>
              <a:tr h="417090">
                <a:tc>
                  <a:txBody>
                    <a:bodyPr/>
                    <a:lstStyle/>
                    <a:p>
                      <a:pPr indent="144145" algn="l" hangingPunct="0">
                        <a:lnSpc>
                          <a:spcPts val="1200"/>
                        </a:lnSpc>
                        <a:buNone/>
                      </a:pPr>
                      <a:r>
                        <a:rPr lang="en-US" sz="1800">
                          <a:effectLst/>
                        </a:rPr>
                        <a:t>EGM</a:t>
                      </a:r>
                      <a:endParaRPr lang="en-ZA" sz="1800">
                        <a:effectLst/>
                        <a:latin typeface="Times New Roman" panose="02020603050405020304" pitchFamily="18" charset="0"/>
                        <a:ea typeface="Times New Roman" panose="02020603050405020304" pitchFamily="18" charset="0"/>
                      </a:endParaRPr>
                    </a:p>
                  </a:txBody>
                  <a:tcPr marL="44450" marR="44450" marT="0" marB="0" anchor="ctr"/>
                </a:tc>
                <a:tc>
                  <a:txBody>
                    <a:bodyPr/>
                    <a:lstStyle/>
                    <a:p>
                      <a:pPr indent="144145" algn="just" hangingPunct="0">
                        <a:lnSpc>
                          <a:spcPts val="1200"/>
                        </a:lnSpc>
                        <a:buNone/>
                      </a:pPr>
                      <a:r>
                        <a:rPr lang="en-US" sz="1800">
                          <a:effectLst/>
                        </a:rPr>
                        <a:t>12.398</a:t>
                      </a:r>
                      <a:endParaRPr lang="en-ZA" sz="1800">
                        <a:effectLst/>
                        <a:latin typeface="Times New Roman" panose="02020603050405020304" pitchFamily="18" charset="0"/>
                        <a:ea typeface="Times New Roman" panose="02020603050405020304" pitchFamily="18" charset="0"/>
                      </a:endParaRPr>
                    </a:p>
                  </a:txBody>
                  <a:tcPr marL="44450" marR="44450" marT="0" marB="0" anchor="ctr"/>
                </a:tc>
                <a:tc>
                  <a:txBody>
                    <a:bodyPr/>
                    <a:lstStyle/>
                    <a:p>
                      <a:pPr indent="144145" algn="just" hangingPunct="0">
                        <a:lnSpc>
                          <a:spcPts val="1200"/>
                        </a:lnSpc>
                        <a:buNone/>
                      </a:pPr>
                      <a:r>
                        <a:rPr lang="en-US" sz="1800">
                          <a:effectLst/>
                        </a:rPr>
                        <a:t>205.422</a:t>
                      </a:r>
                      <a:endParaRPr lang="en-ZA" sz="1800">
                        <a:effectLst/>
                        <a:latin typeface="Times New Roman" panose="02020603050405020304" pitchFamily="18" charset="0"/>
                        <a:ea typeface="Times New Roman" panose="02020603050405020304" pitchFamily="18" charset="0"/>
                      </a:endParaRPr>
                    </a:p>
                  </a:txBody>
                  <a:tcPr marL="44450" marR="44450" marT="0" marB="0" anchor="ctr"/>
                </a:tc>
                <a:tc>
                  <a:txBody>
                    <a:bodyPr/>
                    <a:lstStyle/>
                    <a:p>
                      <a:pPr indent="144145" algn="just" hangingPunct="0">
                        <a:lnSpc>
                          <a:spcPts val="1200"/>
                        </a:lnSpc>
                        <a:buNone/>
                      </a:pPr>
                      <a:r>
                        <a:rPr lang="en-US" sz="1800">
                          <a:effectLst/>
                        </a:rPr>
                        <a:t>14.333</a:t>
                      </a:r>
                      <a:endParaRPr lang="en-ZA" sz="1800">
                        <a:effectLst/>
                        <a:latin typeface="Times New Roman" panose="02020603050405020304" pitchFamily="18" charset="0"/>
                        <a:ea typeface="Times New Roman" panose="02020603050405020304" pitchFamily="18" charset="0"/>
                      </a:endParaRPr>
                    </a:p>
                  </a:txBody>
                  <a:tcPr marL="44450" marR="44450" marT="0" marB="0"/>
                </a:tc>
                <a:tc>
                  <a:txBody>
                    <a:bodyPr/>
                    <a:lstStyle/>
                    <a:p>
                      <a:pPr indent="144145" algn="just" hangingPunct="0">
                        <a:lnSpc>
                          <a:spcPts val="1200"/>
                        </a:lnSpc>
                        <a:buNone/>
                      </a:pPr>
                      <a:r>
                        <a:rPr lang="en-US" sz="1800">
                          <a:effectLst/>
                        </a:rPr>
                        <a:t>0.002</a:t>
                      </a:r>
                      <a:endParaRPr lang="en-ZA" sz="1800">
                        <a:effectLst/>
                        <a:latin typeface="Times New Roman" panose="02020603050405020304" pitchFamily="18" charset="0"/>
                        <a:ea typeface="Times New Roman" panose="02020603050405020304" pitchFamily="18" charset="0"/>
                      </a:endParaRPr>
                    </a:p>
                  </a:txBody>
                  <a:tcPr marL="44450" marR="44450" marT="0" marB="0"/>
                </a:tc>
                <a:extLst>
                  <a:ext uri="{0D108BD9-81ED-4DB2-BD59-A6C34878D82A}">
                    <a16:rowId xmlns:a16="http://schemas.microsoft.com/office/drawing/2014/main" val="1420954791"/>
                  </a:ext>
                </a:extLst>
              </a:tr>
              <a:tr h="417090">
                <a:tc>
                  <a:txBody>
                    <a:bodyPr/>
                    <a:lstStyle/>
                    <a:p>
                      <a:pPr indent="144145" algn="l" hangingPunct="0">
                        <a:lnSpc>
                          <a:spcPts val="1200"/>
                        </a:lnSpc>
                        <a:buNone/>
                      </a:pPr>
                      <a:r>
                        <a:rPr lang="en-US" sz="1800">
                          <a:effectLst/>
                        </a:rPr>
                        <a:t>TabNet</a:t>
                      </a:r>
                      <a:endParaRPr lang="en-ZA" sz="1800">
                        <a:effectLst/>
                        <a:latin typeface="Times New Roman" panose="02020603050405020304" pitchFamily="18" charset="0"/>
                        <a:ea typeface="Times New Roman" panose="02020603050405020304" pitchFamily="18" charset="0"/>
                      </a:endParaRPr>
                    </a:p>
                  </a:txBody>
                  <a:tcPr marL="44450" marR="44450" marT="0" marB="0" anchor="ctr"/>
                </a:tc>
                <a:tc>
                  <a:txBody>
                    <a:bodyPr/>
                    <a:lstStyle/>
                    <a:p>
                      <a:pPr indent="144145" algn="just" hangingPunct="0">
                        <a:lnSpc>
                          <a:spcPts val="1200"/>
                        </a:lnSpc>
                        <a:buNone/>
                      </a:pPr>
                      <a:r>
                        <a:rPr lang="en-US" sz="1800">
                          <a:effectLst/>
                        </a:rPr>
                        <a:t>12.509</a:t>
                      </a:r>
                      <a:endParaRPr lang="en-ZA" sz="1800">
                        <a:effectLst/>
                        <a:latin typeface="Times New Roman" panose="02020603050405020304" pitchFamily="18" charset="0"/>
                        <a:ea typeface="Times New Roman" panose="02020603050405020304" pitchFamily="18" charset="0"/>
                      </a:endParaRPr>
                    </a:p>
                  </a:txBody>
                  <a:tcPr marL="44450" marR="44450" marT="0" marB="0" anchor="ctr"/>
                </a:tc>
                <a:tc>
                  <a:txBody>
                    <a:bodyPr/>
                    <a:lstStyle/>
                    <a:p>
                      <a:pPr indent="144145" algn="just" hangingPunct="0">
                        <a:lnSpc>
                          <a:spcPts val="1200"/>
                        </a:lnSpc>
                        <a:buNone/>
                      </a:pPr>
                      <a:r>
                        <a:rPr lang="en-US" sz="1800">
                          <a:effectLst/>
                        </a:rPr>
                        <a:t>211.525</a:t>
                      </a:r>
                      <a:endParaRPr lang="en-ZA" sz="1800">
                        <a:effectLst/>
                        <a:latin typeface="Times New Roman" panose="02020603050405020304" pitchFamily="18" charset="0"/>
                        <a:ea typeface="Times New Roman" panose="02020603050405020304" pitchFamily="18" charset="0"/>
                      </a:endParaRPr>
                    </a:p>
                  </a:txBody>
                  <a:tcPr marL="44450" marR="44450" marT="0" marB="0" anchor="ctr"/>
                </a:tc>
                <a:tc>
                  <a:txBody>
                    <a:bodyPr/>
                    <a:lstStyle/>
                    <a:p>
                      <a:pPr indent="144145" algn="just" hangingPunct="0">
                        <a:lnSpc>
                          <a:spcPts val="1200"/>
                        </a:lnSpc>
                        <a:buNone/>
                      </a:pPr>
                      <a:r>
                        <a:rPr lang="en-US" sz="1800">
                          <a:effectLst/>
                        </a:rPr>
                        <a:t>14.544</a:t>
                      </a:r>
                      <a:endParaRPr lang="en-ZA" sz="1800">
                        <a:effectLst/>
                        <a:latin typeface="Times New Roman" panose="02020603050405020304" pitchFamily="18" charset="0"/>
                        <a:ea typeface="Times New Roman" panose="02020603050405020304" pitchFamily="18" charset="0"/>
                      </a:endParaRPr>
                    </a:p>
                  </a:txBody>
                  <a:tcPr marL="44450" marR="44450" marT="0" marB="0"/>
                </a:tc>
                <a:tc>
                  <a:txBody>
                    <a:bodyPr/>
                    <a:lstStyle/>
                    <a:p>
                      <a:pPr indent="144145" algn="just" hangingPunct="0">
                        <a:lnSpc>
                          <a:spcPts val="1200"/>
                        </a:lnSpc>
                        <a:buNone/>
                      </a:pPr>
                      <a:r>
                        <a:rPr lang="en-US" sz="1800" dirty="0">
                          <a:effectLst/>
                        </a:rPr>
                        <a:t>-0.027</a:t>
                      </a:r>
                      <a:endParaRPr lang="en-ZA" sz="1800" dirty="0">
                        <a:effectLst/>
                        <a:latin typeface="Times New Roman" panose="02020603050405020304" pitchFamily="18" charset="0"/>
                        <a:ea typeface="Times New Roman" panose="02020603050405020304" pitchFamily="18" charset="0"/>
                      </a:endParaRPr>
                    </a:p>
                  </a:txBody>
                  <a:tcPr marL="44450" marR="44450" marT="0" marB="0"/>
                </a:tc>
                <a:extLst>
                  <a:ext uri="{0D108BD9-81ED-4DB2-BD59-A6C34878D82A}">
                    <a16:rowId xmlns:a16="http://schemas.microsoft.com/office/drawing/2014/main" val="3118631536"/>
                  </a:ext>
                </a:extLst>
              </a:tr>
            </a:tbl>
          </a:graphicData>
        </a:graphic>
      </p:graphicFrame>
      <p:pic>
        <p:nvPicPr>
          <p:cNvPr id="4" name="Picture 4" descr="Home | UWC">
            <a:extLst>
              <a:ext uri="{FF2B5EF4-FFF2-40B4-BE49-F238E27FC236}">
                <a16:creationId xmlns:a16="http://schemas.microsoft.com/office/drawing/2014/main" id="{15E89CFA-9CAF-9615-F9C6-771239C4F1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09765" y="5938540"/>
            <a:ext cx="698714" cy="698714"/>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Stellenbosch University (SU)">
            <a:extLst>
              <a:ext uri="{FF2B5EF4-FFF2-40B4-BE49-F238E27FC236}">
                <a16:creationId xmlns:a16="http://schemas.microsoft.com/office/drawing/2014/main" id="{BAB6FBA1-BDE6-7ED8-5215-8BA091A430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97225" y="6012376"/>
            <a:ext cx="1414904" cy="5675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392318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0C03C2-4C60-C53B-0B3B-01AA00FBAE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516364-7C9D-191D-D275-9519035C579A}"/>
              </a:ext>
            </a:extLst>
          </p:cNvPr>
          <p:cNvSpPr>
            <a:spLocks noGrp="1"/>
          </p:cNvSpPr>
          <p:nvPr>
            <p:ph type="title"/>
          </p:nvPr>
        </p:nvSpPr>
        <p:spPr/>
        <p:txBody>
          <a:bodyPr/>
          <a:lstStyle/>
          <a:p>
            <a:r>
              <a:rPr lang="en-ZA" dirty="0"/>
              <a:t>Example  - User query</a:t>
            </a:r>
          </a:p>
        </p:txBody>
      </p:sp>
      <p:sp>
        <p:nvSpPr>
          <p:cNvPr id="6" name="TextBox 5">
            <a:extLst>
              <a:ext uri="{FF2B5EF4-FFF2-40B4-BE49-F238E27FC236}">
                <a16:creationId xmlns:a16="http://schemas.microsoft.com/office/drawing/2014/main" id="{9764D9B7-70E5-60A1-B337-31CE6C12F426}"/>
              </a:ext>
            </a:extLst>
          </p:cNvPr>
          <p:cNvSpPr txBox="1"/>
          <p:nvPr/>
        </p:nvSpPr>
        <p:spPr>
          <a:xfrm>
            <a:off x="678426" y="1897229"/>
            <a:ext cx="11336594" cy="2246769"/>
          </a:xfrm>
          <a:prstGeom prst="rect">
            <a:avLst/>
          </a:prstGeom>
          <a:noFill/>
        </p:spPr>
        <p:txBody>
          <a:bodyPr wrap="square">
            <a:spAutoFit/>
          </a:bodyPr>
          <a:lstStyle/>
          <a:p>
            <a:r>
              <a:rPr lang="en-GB" sz="2800" dirty="0"/>
              <a:t>User Question: </a:t>
            </a:r>
          </a:p>
          <a:p>
            <a:endParaRPr lang="en-GB" sz="2800" dirty="0"/>
          </a:p>
          <a:p>
            <a:pPr algn="ctr"/>
            <a:r>
              <a:rPr lang="en-GB" sz="2800" dirty="0"/>
              <a:t>“Water Contamination has a strong positive correlation (+0.75) with Cholera cases. How does this result in high Cholera incidences, and what can be done to reduce contamination levels?”</a:t>
            </a:r>
            <a:endParaRPr lang="en-ZA" sz="2800" dirty="0"/>
          </a:p>
        </p:txBody>
      </p:sp>
      <p:pic>
        <p:nvPicPr>
          <p:cNvPr id="3" name="Picture 4" descr="Home | UWC">
            <a:extLst>
              <a:ext uri="{FF2B5EF4-FFF2-40B4-BE49-F238E27FC236}">
                <a16:creationId xmlns:a16="http://schemas.microsoft.com/office/drawing/2014/main" id="{6E67F448-59F9-B009-32EA-994A95E5B6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51436" y="5794161"/>
            <a:ext cx="698714" cy="698714"/>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descr="Stellenbosch University (SU)">
            <a:extLst>
              <a:ext uri="{FF2B5EF4-FFF2-40B4-BE49-F238E27FC236}">
                <a16:creationId xmlns:a16="http://schemas.microsoft.com/office/drawing/2014/main" id="{335C1C37-C456-8A0C-4196-CB0CC19BEE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38896" y="5867997"/>
            <a:ext cx="1414904" cy="5675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87994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44FF2E-E51E-5FD8-D9EF-295CF8F78B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942D39-FAD4-FB9E-4A8D-555E341C7E1E}"/>
              </a:ext>
            </a:extLst>
          </p:cNvPr>
          <p:cNvSpPr>
            <a:spLocks noGrp="1"/>
          </p:cNvSpPr>
          <p:nvPr>
            <p:ph type="title"/>
          </p:nvPr>
        </p:nvSpPr>
        <p:spPr>
          <a:xfrm>
            <a:off x="838200" y="-74823"/>
            <a:ext cx="10515600" cy="1325563"/>
          </a:xfrm>
        </p:spPr>
        <p:txBody>
          <a:bodyPr/>
          <a:lstStyle/>
          <a:p>
            <a:r>
              <a:rPr lang="en-ZA" dirty="0"/>
              <a:t>The Interface</a:t>
            </a:r>
          </a:p>
        </p:txBody>
      </p:sp>
      <p:pic>
        <p:nvPicPr>
          <p:cNvPr id="4" name="Picture 3">
            <a:extLst>
              <a:ext uri="{FF2B5EF4-FFF2-40B4-BE49-F238E27FC236}">
                <a16:creationId xmlns:a16="http://schemas.microsoft.com/office/drawing/2014/main" id="{CE6C005C-472F-0589-5D68-FD9441F08AC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54174" y="957533"/>
            <a:ext cx="4872090" cy="5900467"/>
          </a:xfrm>
          <a:prstGeom prst="rect">
            <a:avLst/>
          </a:prstGeom>
        </p:spPr>
      </p:pic>
      <p:pic>
        <p:nvPicPr>
          <p:cNvPr id="3" name="Picture 4" descr="Home | UWC">
            <a:extLst>
              <a:ext uri="{FF2B5EF4-FFF2-40B4-BE49-F238E27FC236}">
                <a16:creationId xmlns:a16="http://schemas.microsoft.com/office/drawing/2014/main" id="{7CC77C5E-DE4F-A413-BEED-C0D85C1C59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42914" y="5820041"/>
            <a:ext cx="698714" cy="698714"/>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Stellenbosch University (SU)">
            <a:extLst>
              <a:ext uri="{FF2B5EF4-FFF2-40B4-BE49-F238E27FC236}">
                <a16:creationId xmlns:a16="http://schemas.microsoft.com/office/drawing/2014/main" id="{DCF20725-E8F4-B086-DFE2-F61C0552CD1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30374" y="5893877"/>
            <a:ext cx="1414904" cy="5675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478622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94A8CD-45F2-F314-ED6D-31044BAB29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575A12-3AA1-A9AF-C4F6-83F1505B4D79}"/>
              </a:ext>
            </a:extLst>
          </p:cNvPr>
          <p:cNvSpPr>
            <a:spLocks noGrp="1"/>
          </p:cNvSpPr>
          <p:nvPr>
            <p:ph type="title"/>
          </p:nvPr>
        </p:nvSpPr>
        <p:spPr>
          <a:xfrm>
            <a:off x="838200" y="217642"/>
            <a:ext cx="4658032" cy="578772"/>
          </a:xfrm>
        </p:spPr>
        <p:txBody>
          <a:bodyPr>
            <a:normAutofit/>
          </a:bodyPr>
          <a:lstStyle/>
          <a:p>
            <a:r>
              <a:rPr lang="en-ZA" sz="2800" dirty="0"/>
              <a:t>Example  - Agent Response</a:t>
            </a:r>
          </a:p>
        </p:txBody>
      </p:sp>
      <p:sp>
        <p:nvSpPr>
          <p:cNvPr id="8" name="TextBox 7">
            <a:extLst>
              <a:ext uri="{FF2B5EF4-FFF2-40B4-BE49-F238E27FC236}">
                <a16:creationId xmlns:a16="http://schemas.microsoft.com/office/drawing/2014/main" id="{28FE28D8-75AD-E317-473A-E5B6CEEB462B}"/>
              </a:ext>
            </a:extLst>
          </p:cNvPr>
          <p:cNvSpPr txBox="1"/>
          <p:nvPr/>
        </p:nvSpPr>
        <p:spPr>
          <a:xfrm>
            <a:off x="838200" y="915714"/>
            <a:ext cx="7706032" cy="4247317"/>
          </a:xfrm>
          <a:prstGeom prst="rect">
            <a:avLst/>
          </a:prstGeom>
          <a:noFill/>
        </p:spPr>
        <p:txBody>
          <a:bodyPr wrap="square" rtlCol="0">
            <a:spAutoFit/>
          </a:bodyPr>
          <a:lstStyle/>
          <a:p>
            <a:pPr>
              <a:buNone/>
            </a:pPr>
            <a:r>
              <a:rPr lang="en-GB" dirty="0"/>
              <a:t>I apologize, but I need to correct an inaccuracy in your question. Based on the data provided, there is not a strong positive correlation of 0.75 between water contamination and cholera cases. Let me provide an accurate analysis based on the available data:</a:t>
            </a:r>
          </a:p>
          <a:p>
            <a:pPr>
              <a:buFont typeface="+mj-lt"/>
              <a:buAutoNum type="arabicPeriod"/>
            </a:pPr>
            <a:r>
              <a:rPr lang="en-GB" b="1" dirty="0"/>
              <a:t>Correlation:</a:t>
            </a:r>
            <a:r>
              <a:rPr lang="en-GB" dirty="0"/>
              <a:t> The Spearman correlation between "Contaminant Level (ppm)" and "Cholera Cases per 100,000 people" is 0.027748526165576628, which indicates a very weak positive correlation.</a:t>
            </a:r>
          </a:p>
          <a:p>
            <a:pPr>
              <a:buFont typeface="+mj-lt"/>
              <a:buAutoNum type="arabicPeriod"/>
            </a:pPr>
            <a:r>
              <a:rPr lang="en-GB" b="1" dirty="0"/>
              <a:t>Feature Importance:</a:t>
            </a:r>
            <a:r>
              <a:rPr lang="en-GB" dirty="0"/>
              <a:t> In the feature importance rankings, "Contaminant Level (ppm)" is ranked 18th out of 40 features, with an average importance score of 0.027489583516604276 across different models.</a:t>
            </a:r>
          </a:p>
          <a:p>
            <a:pPr>
              <a:buFont typeface="+mj-lt"/>
              <a:buAutoNum type="arabicPeriod"/>
            </a:pPr>
            <a:r>
              <a:rPr lang="en-GB" b="1" dirty="0"/>
              <a:t>Linear Regression:</a:t>
            </a:r>
            <a:r>
              <a:rPr lang="en-GB" dirty="0"/>
              <a:t> The coefficient for Contaminant Level in the linear regression model is 0.3753168339270028, with a p-value of 0.15513664614404086. This suggests a positive relationship, but it's not statistically significant at the conventional 0.05 level.</a:t>
            </a:r>
          </a:p>
          <a:p>
            <a:pPr>
              <a:buNone/>
            </a:pPr>
            <a:endParaRPr lang="en-GB" dirty="0"/>
          </a:p>
        </p:txBody>
      </p:sp>
      <p:pic>
        <p:nvPicPr>
          <p:cNvPr id="9" name="Picture 4" descr="Home | UWC">
            <a:extLst>
              <a:ext uri="{FF2B5EF4-FFF2-40B4-BE49-F238E27FC236}">
                <a16:creationId xmlns:a16="http://schemas.microsoft.com/office/drawing/2014/main" id="{D4893E95-5951-CC95-1CFB-012171840F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48074" y="5942286"/>
            <a:ext cx="698714" cy="698714"/>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descr="Stellenbosch University (SU)">
            <a:extLst>
              <a:ext uri="{FF2B5EF4-FFF2-40B4-BE49-F238E27FC236}">
                <a16:creationId xmlns:a16="http://schemas.microsoft.com/office/drawing/2014/main" id="{F4973104-CD15-59BB-C3AC-540BBE4AEF3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35534" y="6016122"/>
            <a:ext cx="1414904" cy="5675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84589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107F78-52FE-6938-4CA4-8F88A16FD4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E4044E-8C13-A0B2-68FC-0BE640882637}"/>
              </a:ext>
            </a:extLst>
          </p:cNvPr>
          <p:cNvSpPr>
            <a:spLocks noGrp="1"/>
          </p:cNvSpPr>
          <p:nvPr>
            <p:ph type="title"/>
          </p:nvPr>
        </p:nvSpPr>
        <p:spPr>
          <a:xfrm>
            <a:off x="838199" y="217642"/>
            <a:ext cx="5828071" cy="578772"/>
          </a:xfrm>
        </p:spPr>
        <p:txBody>
          <a:bodyPr>
            <a:normAutofit/>
          </a:bodyPr>
          <a:lstStyle/>
          <a:p>
            <a:r>
              <a:rPr lang="en-ZA" sz="2800" dirty="0"/>
              <a:t>Example  - Agent Response (Cont’d)</a:t>
            </a:r>
          </a:p>
        </p:txBody>
      </p:sp>
      <p:sp>
        <p:nvSpPr>
          <p:cNvPr id="8" name="TextBox 7">
            <a:extLst>
              <a:ext uri="{FF2B5EF4-FFF2-40B4-BE49-F238E27FC236}">
                <a16:creationId xmlns:a16="http://schemas.microsoft.com/office/drawing/2014/main" id="{6B9A2651-AEB8-038D-2E6E-F9292334E305}"/>
              </a:ext>
            </a:extLst>
          </p:cNvPr>
          <p:cNvSpPr txBox="1"/>
          <p:nvPr/>
        </p:nvSpPr>
        <p:spPr>
          <a:xfrm>
            <a:off x="838200" y="915714"/>
            <a:ext cx="7706032" cy="5078313"/>
          </a:xfrm>
          <a:prstGeom prst="rect">
            <a:avLst/>
          </a:prstGeom>
          <a:noFill/>
        </p:spPr>
        <p:txBody>
          <a:bodyPr wrap="square" rtlCol="0">
            <a:spAutoFit/>
          </a:bodyPr>
          <a:lstStyle/>
          <a:p>
            <a:pPr>
              <a:buNone/>
            </a:pPr>
            <a:r>
              <a:rPr lang="en-GB" dirty="0"/>
              <a:t>While the relationship between water contamination and cholera incidence is not as strong as suggested in the question, it's still an important factor to consider. Here's an interpretation of the results:</a:t>
            </a:r>
          </a:p>
          <a:p>
            <a:pPr>
              <a:buNone/>
            </a:pPr>
            <a:r>
              <a:rPr lang="en-GB" dirty="0"/>
              <a:t>Water contamination does appear to have a slight positive association with cholera cases, meaning higher contaminant levels may contribute to increased cholera risk. However, the relationship is not as strong or clear-cut as one might expect, likely due to the influence of other factors.</a:t>
            </a:r>
          </a:p>
          <a:p>
            <a:pPr>
              <a:buNone/>
            </a:pPr>
            <a:r>
              <a:rPr lang="en-GB" dirty="0"/>
              <a:t>To reduce contamination levels and potentially lower cholera risk, evidence-based interventions could include:</a:t>
            </a:r>
          </a:p>
          <a:p>
            <a:pPr>
              <a:buFont typeface="+mj-lt"/>
              <a:buAutoNum type="arabicPeriod"/>
            </a:pPr>
            <a:r>
              <a:rPr lang="en-GB" dirty="0"/>
              <a:t>Improving water treatment infrastructure to reduce contaminants in the water supply.</a:t>
            </a:r>
          </a:p>
          <a:p>
            <a:pPr>
              <a:buFont typeface="+mj-lt"/>
              <a:buAutoNum type="arabicPeriod"/>
            </a:pPr>
            <a:r>
              <a:rPr lang="en-GB" dirty="0"/>
              <a:t>Implementing regular water quality testing and monitoring programs.</a:t>
            </a:r>
          </a:p>
          <a:p>
            <a:pPr>
              <a:buFont typeface="+mj-lt"/>
              <a:buAutoNum type="arabicPeriod"/>
            </a:pPr>
            <a:r>
              <a:rPr lang="en-GB" dirty="0"/>
              <a:t>Educating communities on safe water handling and storage practices.</a:t>
            </a:r>
          </a:p>
          <a:p>
            <a:pPr>
              <a:buFont typeface="+mj-lt"/>
              <a:buAutoNum type="arabicPeriod"/>
            </a:pPr>
            <a:r>
              <a:rPr lang="en-GB" dirty="0"/>
              <a:t>Addressing sources of contamination, such as improving sanitation systems to prevent sewage from entering water sources.</a:t>
            </a:r>
          </a:p>
          <a:p>
            <a:pPr>
              <a:buNone/>
            </a:pPr>
            <a:r>
              <a:rPr lang="en-GB" dirty="0"/>
              <a:t>It's important to note that while reducing contamination is beneficial, a comprehensive approach addressing multiple risk factors (like sanitation, healthcare access, and hygiene practices) would</a:t>
            </a:r>
          </a:p>
        </p:txBody>
      </p:sp>
      <p:pic>
        <p:nvPicPr>
          <p:cNvPr id="3" name="Picture 4" descr="Home | UWC">
            <a:extLst>
              <a:ext uri="{FF2B5EF4-FFF2-40B4-BE49-F238E27FC236}">
                <a16:creationId xmlns:a16="http://schemas.microsoft.com/office/drawing/2014/main" id="{46A3D328-9108-C18B-B9DA-9A836BFCA9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87357" y="5794161"/>
            <a:ext cx="698714" cy="698714"/>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Stellenbosch University (SU)">
            <a:extLst>
              <a:ext uri="{FF2B5EF4-FFF2-40B4-BE49-F238E27FC236}">
                <a16:creationId xmlns:a16="http://schemas.microsoft.com/office/drawing/2014/main" id="{EE20C490-2187-1A02-0CD9-ECA4AF9494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74817" y="5867997"/>
            <a:ext cx="1414904" cy="5675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996316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951509-624E-7E67-2902-AD59F27E38D6}"/>
              </a:ext>
            </a:extLst>
          </p:cNvPr>
          <p:cNvSpPr>
            <a:spLocks noGrp="1"/>
          </p:cNvSpPr>
          <p:nvPr>
            <p:ph type="title"/>
          </p:nvPr>
        </p:nvSpPr>
        <p:spPr/>
        <p:txBody>
          <a:bodyPr/>
          <a:lstStyle/>
          <a:p>
            <a:r>
              <a:rPr lang="en-ZA" dirty="0"/>
              <a:t>Discussion</a:t>
            </a:r>
          </a:p>
        </p:txBody>
      </p:sp>
      <p:sp>
        <p:nvSpPr>
          <p:cNvPr id="3" name="TextBox 2">
            <a:extLst>
              <a:ext uri="{FF2B5EF4-FFF2-40B4-BE49-F238E27FC236}">
                <a16:creationId xmlns:a16="http://schemas.microsoft.com/office/drawing/2014/main" id="{AC202978-2A78-2347-E05E-190AD9C49C3E}"/>
              </a:ext>
            </a:extLst>
          </p:cNvPr>
          <p:cNvSpPr txBox="1"/>
          <p:nvPr/>
        </p:nvSpPr>
        <p:spPr>
          <a:xfrm>
            <a:off x="1120877" y="1602658"/>
            <a:ext cx="7757652" cy="4247317"/>
          </a:xfrm>
          <a:prstGeom prst="rect">
            <a:avLst/>
          </a:prstGeom>
          <a:noFill/>
        </p:spPr>
        <p:txBody>
          <a:bodyPr wrap="square" rtlCol="0">
            <a:spAutoFit/>
          </a:bodyPr>
          <a:lstStyle/>
          <a:p>
            <a:pPr marL="285750" indent="-285750">
              <a:buFont typeface="Arial" panose="020B0604020202020204" pitchFamily="34" charset="0"/>
              <a:buChar char="•"/>
            </a:pPr>
            <a:r>
              <a:rPr lang="en-GB" b="1" dirty="0"/>
              <a:t>Cholera risk is multifactorial</a:t>
            </a:r>
            <a:r>
              <a:rPr lang="en-GB" dirty="0"/>
              <a:t>, driven by a combination of environmental and socio-economic factors rather than any single predictor.</a:t>
            </a:r>
          </a:p>
          <a:p>
            <a:pPr marL="285750" indent="-285750">
              <a:buFont typeface="Arial" panose="020B0604020202020204" pitchFamily="34" charset="0"/>
              <a:buChar char="•"/>
            </a:pPr>
            <a:r>
              <a:rPr lang="en-GB" b="1" dirty="0"/>
              <a:t>Infant Mortality Rate </a:t>
            </a:r>
            <a:r>
              <a:rPr lang="en-GB" dirty="0"/>
              <a:t>emerged as the most consistent socio-economic indicator of cholera vulnerability.</a:t>
            </a:r>
          </a:p>
          <a:p>
            <a:pPr marL="285750" indent="-285750">
              <a:buFont typeface="Arial" panose="020B0604020202020204" pitchFamily="34" charset="0"/>
              <a:buChar char="•"/>
            </a:pPr>
            <a:r>
              <a:rPr lang="en-GB" b="1" dirty="0"/>
              <a:t>Water quality variables</a:t>
            </a:r>
            <a:r>
              <a:rPr lang="en-GB" dirty="0"/>
              <a:t>—including turbidity, contamination, and pH—were key environmental drivers.</a:t>
            </a:r>
          </a:p>
          <a:p>
            <a:pPr marL="285750" indent="-285750">
              <a:buFont typeface="Arial" panose="020B0604020202020204" pitchFamily="34" charset="0"/>
              <a:buChar char="•"/>
            </a:pPr>
            <a:r>
              <a:rPr lang="en-GB" b="1" dirty="0"/>
              <a:t>EBM delivered the best model performance (RMSE 14.333) </a:t>
            </a:r>
            <a:r>
              <a:rPr lang="en-GB" dirty="0"/>
              <a:t>while remaining fully interpretable, reinforcing the value of explainable AI in epidemiology.</a:t>
            </a:r>
          </a:p>
          <a:p>
            <a:pPr marL="285750" indent="-285750">
              <a:buFont typeface="Arial" panose="020B0604020202020204" pitchFamily="34" charset="0"/>
              <a:buChar char="•"/>
            </a:pPr>
            <a:r>
              <a:rPr lang="en-GB" b="1" dirty="0"/>
              <a:t>The LLM-powered agent </a:t>
            </a:r>
            <a:r>
              <a:rPr lang="en-GB" dirty="0"/>
              <a:t>enabled intuitive, natural-language exploration of analytical outputs, improving accessibility without sacrificing scientific rigour.</a:t>
            </a:r>
          </a:p>
          <a:p>
            <a:pPr marL="285750" indent="-285750">
              <a:buFont typeface="Arial" panose="020B0604020202020204" pitchFamily="34" charset="0"/>
              <a:buChar char="•"/>
            </a:pPr>
            <a:r>
              <a:rPr lang="en-GB" dirty="0"/>
              <a:t>The study demonstrates the potential of combining </a:t>
            </a:r>
            <a:r>
              <a:rPr lang="en-GB" b="1" dirty="0"/>
              <a:t>explainable ML </a:t>
            </a:r>
            <a:r>
              <a:rPr lang="en-GB" dirty="0"/>
              <a:t>+ </a:t>
            </a:r>
            <a:r>
              <a:rPr lang="en-GB" b="1" dirty="0"/>
              <a:t>statistical reasoning </a:t>
            </a:r>
            <a:r>
              <a:rPr lang="en-GB" dirty="0"/>
              <a:t>+ </a:t>
            </a:r>
            <a:r>
              <a:rPr lang="en-GB" b="1" dirty="0"/>
              <a:t>LLM interpretation </a:t>
            </a:r>
            <a:r>
              <a:rPr lang="en-GB" dirty="0"/>
              <a:t>to support public health decision-making, especially in data-constrained settings.</a:t>
            </a:r>
            <a:endParaRPr lang="en-ZA" dirty="0"/>
          </a:p>
        </p:txBody>
      </p:sp>
      <p:pic>
        <p:nvPicPr>
          <p:cNvPr id="5" name="Picture 4" descr="Home | UWC">
            <a:extLst>
              <a:ext uri="{FF2B5EF4-FFF2-40B4-BE49-F238E27FC236}">
                <a16:creationId xmlns:a16="http://schemas.microsoft.com/office/drawing/2014/main" id="{36300654-39C5-2026-08B4-821C3C5C1C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87357" y="5794161"/>
            <a:ext cx="698714" cy="698714"/>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descr="Stellenbosch University (SU)">
            <a:extLst>
              <a:ext uri="{FF2B5EF4-FFF2-40B4-BE49-F238E27FC236}">
                <a16:creationId xmlns:a16="http://schemas.microsoft.com/office/drawing/2014/main" id="{47510235-58C2-DD74-A1B0-124CD41D92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74817" y="5867997"/>
            <a:ext cx="1414904" cy="5675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072107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7F9D17-0CFB-793E-81ED-832ADD7570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DD35E6-A8D4-8E6D-358C-3DFA2191D254}"/>
              </a:ext>
            </a:extLst>
          </p:cNvPr>
          <p:cNvSpPr>
            <a:spLocks noGrp="1"/>
          </p:cNvSpPr>
          <p:nvPr>
            <p:ph type="title"/>
          </p:nvPr>
        </p:nvSpPr>
        <p:spPr/>
        <p:txBody>
          <a:bodyPr/>
          <a:lstStyle/>
          <a:p>
            <a:r>
              <a:rPr lang="en-ZA" dirty="0"/>
              <a:t>Conclusion</a:t>
            </a:r>
          </a:p>
        </p:txBody>
      </p:sp>
      <p:sp>
        <p:nvSpPr>
          <p:cNvPr id="3" name="TextBox 2">
            <a:extLst>
              <a:ext uri="{FF2B5EF4-FFF2-40B4-BE49-F238E27FC236}">
                <a16:creationId xmlns:a16="http://schemas.microsoft.com/office/drawing/2014/main" id="{4968DA86-4E20-A08F-3198-B0C5EA0ABAE3}"/>
              </a:ext>
            </a:extLst>
          </p:cNvPr>
          <p:cNvSpPr txBox="1"/>
          <p:nvPr/>
        </p:nvSpPr>
        <p:spPr>
          <a:xfrm>
            <a:off x="1120877" y="1602658"/>
            <a:ext cx="9576620" cy="3693319"/>
          </a:xfrm>
          <a:prstGeom prst="rect">
            <a:avLst/>
          </a:prstGeom>
          <a:noFill/>
        </p:spPr>
        <p:txBody>
          <a:bodyPr wrap="square" rtlCol="0">
            <a:spAutoFit/>
          </a:bodyPr>
          <a:lstStyle/>
          <a:p>
            <a:r>
              <a:rPr lang="en-GB" dirty="0"/>
              <a:t>This framework offers a powerful and transformative approach to epidemiological analysis by uniting the strengths of machine learning, statistical inference, and LLM-driven interpretation. </a:t>
            </a:r>
          </a:p>
          <a:p>
            <a:endParaRPr lang="en-GB" dirty="0"/>
          </a:p>
          <a:p>
            <a:r>
              <a:rPr lang="en-GB" dirty="0"/>
              <a:t>By blending ML’s pattern-recognition abilities with the explanatory rigour of traditional statistical methods and the natural-language reasoning capabilities of LLMs, it delivers insights that are both analytically robust and highly accessible. </a:t>
            </a:r>
          </a:p>
          <a:p>
            <a:r>
              <a:rPr lang="en-GB" dirty="0"/>
              <a:t>Its modular design ensures that complex analyses can be conducted transparently, enabling diverse stakeholders, such as policymakers and public health practitioners, to explore, question, and understand epidemiological patterns with ease. </a:t>
            </a:r>
          </a:p>
          <a:p>
            <a:endParaRPr lang="en-GB" dirty="0"/>
          </a:p>
          <a:p>
            <a:r>
              <a:rPr lang="en-GB" dirty="0"/>
              <a:t>With future improvement this integrated approach enhances decision-making by making advanced analytical tools interpretable, trustworthy, and usable in real-world public health contexts, especially in settings with limited resources.</a:t>
            </a:r>
            <a:endParaRPr lang="en-ZA" dirty="0"/>
          </a:p>
        </p:txBody>
      </p:sp>
      <p:pic>
        <p:nvPicPr>
          <p:cNvPr id="4" name="Picture 4" descr="Home | UWC">
            <a:extLst>
              <a:ext uri="{FF2B5EF4-FFF2-40B4-BE49-F238E27FC236}">
                <a16:creationId xmlns:a16="http://schemas.microsoft.com/office/drawing/2014/main" id="{FA20096E-45BE-18DC-760E-6029DF6064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87357" y="5794161"/>
            <a:ext cx="698714" cy="698714"/>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Stellenbosch University (SU)">
            <a:extLst>
              <a:ext uri="{FF2B5EF4-FFF2-40B4-BE49-F238E27FC236}">
                <a16:creationId xmlns:a16="http://schemas.microsoft.com/office/drawing/2014/main" id="{554F129F-E324-934C-6A4E-E2BF3B8612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74817" y="5867997"/>
            <a:ext cx="1414904" cy="5675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50720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C5ABD-C66B-0016-2AEB-A9DC60A7184F}"/>
              </a:ext>
            </a:extLst>
          </p:cNvPr>
          <p:cNvSpPr>
            <a:spLocks noGrp="1"/>
          </p:cNvSpPr>
          <p:nvPr>
            <p:ph type="title"/>
          </p:nvPr>
        </p:nvSpPr>
        <p:spPr>
          <a:xfrm>
            <a:off x="3915696" y="1839964"/>
            <a:ext cx="4707194" cy="1109714"/>
          </a:xfrm>
        </p:spPr>
        <p:txBody>
          <a:bodyPr/>
          <a:lstStyle/>
          <a:p>
            <a:r>
              <a:rPr lang="en-ZA" dirty="0"/>
              <a:t>Thank you</a:t>
            </a:r>
          </a:p>
        </p:txBody>
      </p:sp>
      <p:pic>
        <p:nvPicPr>
          <p:cNvPr id="3" name="Picture 4" descr="Home | UWC">
            <a:extLst>
              <a:ext uri="{FF2B5EF4-FFF2-40B4-BE49-F238E27FC236}">
                <a16:creationId xmlns:a16="http://schemas.microsoft.com/office/drawing/2014/main" id="{1DCCE9BC-974B-7DEC-7AD0-F2CFCC27A1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09840" y="5153958"/>
            <a:ext cx="1373537" cy="1373537"/>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6" descr="Stellenbosch University (SU)">
            <a:extLst>
              <a:ext uri="{FF2B5EF4-FFF2-40B4-BE49-F238E27FC236}">
                <a16:creationId xmlns:a16="http://schemas.microsoft.com/office/drawing/2014/main" id="{EF1D977C-469E-D7DC-152B-8D2EC2038D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83377" y="5282868"/>
            <a:ext cx="2781430" cy="11157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606096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6650</TotalTime>
  <Words>1738</Words>
  <Application>Microsoft Office PowerPoint</Application>
  <PresentationFormat>Widescreen</PresentationFormat>
  <Paragraphs>224</Paragraphs>
  <Slides>23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anthropicSerif</vt:lpstr>
      <vt:lpstr>Aptos</vt:lpstr>
      <vt:lpstr>Aptos Display</vt:lpstr>
      <vt:lpstr>Arial</vt:lpstr>
      <vt:lpstr>Cambria Math</vt:lpstr>
      <vt:lpstr>Times New Roman</vt:lpstr>
      <vt:lpstr>Office Theme</vt:lpstr>
      <vt:lpstr>Large Language Model Powered Agentic Framework for Cholera Risk Prediction with Explainable ML and Statistical Insights</vt:lpstr>
      <vt:lpstr>Table of Contents</vt:lpstr>
      <vt:lpstr>The Big picture</vt:lpstr>
      <vt:lpstr>Introduction</vt:lpstr>
      <vt:lpstr>Research Question</vt:lpstr>
      <vt:lpstr>Dataset Description</vt:lpstr>
      <vt:lpstr>…Dataset Description</vt:lpstr>
      <vt:lpstr>Dataset Pre-processing</vt:lpstr>
      <vt:lpstr>Methodology – Knowledge base</vt:lpstr>
      <vt:lpstr>Methodology – LLM Framework</vt:lpstr>
      <vt:lpstr>Langchain + Langraph Integration</vt:lpstr>
      <vt:lpstr>Streamlit UI</vt:lpstr>
      <vt:lpstr>Evaluation – Model Performance</vt:lpstr>
      <vt:lpstr>Results – Feature Importance</vt:lpstr>
      <vt:lpstr>Results – Feature Importance</vt:lpstr>
      <vt:lpstr>Results – Model Performance</vt:lpstr>
      <vt:lpstr>Example  - User query</vt:lpstr>
      <vt:lpstr>The Interface</vt:lpstr>
      <vt:lpstr>Example  - Agent Response</vt:lpstr>
      <vt:lpstr>Example  - Agent Response (Cont’d)</vt:lpstr>
      <vt:lpstr>Discussion</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Paul Jideani</dc:creator>
  <cp:lastModifiedBy>Paul Jideani</cp:lastModifiedBy>
  <cp:revision>5</cp:revision>
  <dcterms:created xsi:type="dcterms:W3CDTF">2025-11-17T20:12:00Z</dcterms:created>
  <dcterms:modified xsi:type="dcterms:W3CDTF">2025-11-25T07:44:21Z</dcterms:modified>
</cp:coreProperties>
</file>